
<file path=[Content_Types].xml><?xml version="1.0" encoding="utf-8"?>
<Types xmlns="http://schemas.openxmlformats.org/package/2006/content-types">
  <Default Extension="xml" ContentType="application/vnd.openxmlformats-package.core-properties+xml"/>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21dd1905da6145f6" /><Relationship Type="http://schemas.openxmlformats.org/officeDocument/2006/relationships/extended-properties" Target="/docProps/app.xml" Id="R018c8f4ad52643c7" /><Relationship Type="http://schemas.openxmlformats.org/officeDocument/2006/relationships/officeDocument" Target="/ppt/presentation.xml" Id="Rba5a1bc89be1420d" /></Relationships>
</file>

<file path=ppt/presentation.xml><?xml version="1.0" encoding="utf-8"?>
<p:presentation xmlns:p="http://schemas.openxmlformats.org/presentationml/2006/main">
  <p:sldMasterIdLst>
    <p:sldMasterId xmlns:r="http://schemas.openxmlformats.org/officeDocument/2006/relationships" id="2147483648" r:id="R00a0e13d5d074337"/>
  </p:sldMasterIdLst>
  <p:notesMasterIdLst>
    <p:notesMasterId xmlns:r="http://schemas.openxmlformats.org/officeDocument/2006/relationships" r:id="Rce6fdae4e1d841ce"/>
  </p:notesMasterIdLst>
  <p:sldIdLst>
    <p:sldId xmlns:r="http://schemas.openxmlformats.org/officeDocument/2006/relationships" id="256" r:id="Rf62cd51eadc74a30"/>
    <p:sldId xmlns:r="http://schemas.openxmlformats.org/officeDocument/2006/relationships" id="257" r:id="R83061a93546348a3"/>
    <p:sldId xmlns:r="http://schemas.openxmlformats.org/officeDocument/2006/relationships" id="258" r:id="R4a2a3e93edfa446c"/>
    <p:sldId xmlns:r="http://schemas.openxmlformats.org/officeDocument/2006/relationships" id="259" r:id="R9cc7cc0b05714ecf"/>
    <p:sldId xmlns:r="http://schemas.openxmlformats.org/officeDocument/2006/relationships" id="260" r:id="R98c737dafc444cb8"/>
    <p:sldId xmlns:r="http://schemas.openxmlformats.org/officeDocument/2006/relationships" id="261" r:id="Rf3a48c92ba374cfd"/>
    <p:sldId xmlns:r="http://schemas.openxmlformats.org/officeDocument/2006/relationships" id="262" r:id="Ra898477d8b7540ed"/>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a574e7faacbe473f" /><Relationship Type="http://schemas.openxmlformats.org/officeDocument/2006/relationships/slideMaster" Target="/ppt/slideMasters/slideMaster1.xml" Id="R00a0e13d5d074337" /><Relationship Type="http://schemas.openxmlformats.org/officeDocument/2006/relationships/notesMaster" Target="/ppt/notesMasters/notesMaster1.xml" Id="Rce6fdae4e1d841ce" /><Relationship Type="http://schemas.openxmlformats.org/officeDocument/2006/relationships/presProps" Target="/ppt/presProps.xml" Id="R7d70c7ac0cb64aad" /><Relationship Type="http://schemas.openxmlformats.org/officeDocument/2006/relationships/tableStyles" Target="/ppt/tableStyles.xml" Id="R0b1fdeba29024d3c" /><Relationship Type="http://schemas.openxmlformats.org/officeDocument/2006/relationships/slide" Target="/ppt/slides/slide1.xml" Id="Rf62cd51eadc74a30" /><Relationship Type="http://schemas.openxmlformats.org/officeDocument/2006/relationships/slide" Target="/ppt/slides/slide2.xml" Id="R83061a93546348a3" /><Relationship Type="http://schemas.openxmlformats.org/officeDocument/2006/relationships/slide" Target="/ppt/slides/slide3.xml" Id="R4a2a3e93edfa446c" /><Relationship Type="http://schemas.openxmlformats.org/officeDocument/2006/relationships/slide" Target="/ppt/slides/slide4.xml" Id="R9cc7cc0b05714ecf" /><Relationship Type="http://schemas.openxmlformats.org/officeDocument/2006/relationships/slide" Target="/ppt/slides/slide5.xml" Id="R98c737dafc444cb8" /><Relationship Type="http://schemas.openxmlformats.org/officeDocument/2006/relationships/slide" Target="/ppt/slides/slide6.xml" Id="Rf3a48c92ba374cfd" /><Relationship Type="http://schemas.openxmlformats.org/officeDocument/2006/relationships/slide" Target="/ppt/slides/slide7.xml" Id="Ra898477d8b7540ed"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ac6b1fa07ba3451e"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5b47a2844a8b4ecd" /><Relationship Type="http://schemas.openxmlformats.org/officeDocument/2006/relationships/notesMaster" Target="/ppt/notesMasters/notesMaster1.xml" Id="R2350e9d23e60474d" /></Relationships>
</file>

<file path=ppt/notesSlides/_rels/notesSlide2.xml.rels>&#65279;<?xml version="1.0" encoding="utf-8"?><Relationships xmlns="http://schemas.openxmlformats.org/package/2006/relationships"><Relationship Type="http://schemas.openxmlformats.org/officeDocument/2006/relationships/slide" Target="/ppt/slides/slide2.xml" Id="Rebd362dae3094875" /><Relationship Type="http://schemas.openxmlformats.org/officeDocument/2006/relationships/notesMaster" Target="/ppt/notesMasters/notesMaster1.xml" Id="Rdb18864588cf402b" /></Relationships>
</file>

<file path=ppt/notesSlides/_rels/notesSlide3.xml.rels>&#65279;<?xml version="1.0" encoding="utf-8"?><Relationships xmlns="http://schemas.openxmlformats.org/package/2006/relationships"><Relationship Type="http://schemas.openxmlformats.org/officeDocument/2006/relationships/slide" Target="/ppt/slides/slide3.xml" Id="R17903c53bfcb4639" /><Relationship Type="http://schemas.openxmlformats.org/officeDocument/2006/relationships/notesMaster" Target="/ppt/notesMasters/notesMaster1.xml" Id="Red9aec9432604b94" /></Relationships>
</file>

<file path=ppt/notesSlides/_rels/notesSlide4.xml.rels>&#65279;<?xml version="1.0" encoding="utf-8"?><Relationships xmlns="http://schemas.openxmlformats.org/package/2006/relationships"><Relationship Type="http://schemas.openxmlformats.org/officeDocument/2006/relationships/slide" Target="/ppt/slides/slide4.xml" Id="R122b6b0252a7407e" /><Relationship Type="http://schemas.openxmlformats.org/officeDocument/2006/relationships/notesMaster" Target="/ppt/notesMasters/notesMaster1.xml" Id="R7808a5300ea545d0" /></Relationships>
</file>

<file path=ppt/notesSlides/_rels/notesSlide5.xml.rels>&#65279;<?xml version="1.0" encoding="utf-8"?><Relationships xmlns="http://schemas.openxmlformats.org/package/2006/relationships"><Relationship Type="http://schemas.openxmlformats.org/officeDocument/2006/relationships/slide" Target="/ppt/slides/slide5.xml" Id="Ra99708422a1f4397" /><Relationship Type="http://schemas.openxmlformats.org/officeDocument/2006/relationships/notesMaster" Target="/ppt/notesMasters/notesMaster1.xml" Id="Rc72d1d06ac7e43c6" /></Relationships>
</file>

<file path=ppt/notesSlides/_rels/notesSlide6.xml.rels>&#65279;<?xml version="1.0" encoding="utf-8"?><Relationships xmlns="http://schemas.openxmlformats.org/package/2006/relationships"><Relationship Type="http://schemas.openxmlformats.org/officeDocument/2006/relationships/slide" Target="/ppt/slides/slide6.xml" Id="R474382fa2e1a44dd" /><Relationship Type="http://schemas.openxmlformats.org/officeDocument/2006/relationships/notesMaster" Target="/ppt/notesMasters/notesMaster1.xml" Id="R90d4f84c39304b65" /></Relationships>
</file>

<file path=ppt/notesSlides/_rels/notesSlide7.xml.rels>&#65279;<?xml version="1.0" encoding="utf-8"?><Relationships xmlns="http://schemas.openxmlformats.org/package/2006/relationships"><Relationship Type="http://schemas.openxmlformats.org/officeDocument/2006/relationships/slide" Target="/ppt/slides/slide7.xml" Id="R7c5b4b049e724b79" /><Relationship Type="http://schemas.openxmlformats.org/officeDocument/2006/relationships/notesMaster" Target="/ppt/notesMasters/notesMaster1.xml" Id="R5fb213c4485142ef"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Kshetrajna is our experimental Windows workload and file assistant. Its name means the knower of the field. We connect the user's workflow to system pressure and local files while keeping decisions under their control. Source: https://github.com/Team-SankatMochan/KSHETRAJNA-OS, commit 61666c8, README.md and src/kshetrajna/.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developer may switch between an editor, a browser and a terminal while background work consumes resources. Task Manager can show load, and Explorer can show files, but the user still connects those observations manually. This is the problem our prototype addresses. This is a product hypothesis, not a market statistic.</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screenshot comes from the current v0.3 application running on localhost in synthetic demo mode. CPU and memory figures in it are seeded demonstration data, not Snapdragon benchmarks or measured gains. The live mode collects real Windows observations after opt-in. Source: https://github.com/Team-SankatMochan/KSHETRAJNA-OS/tree/main/src/kshetrajna/web and demo.py.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Workflow learning groups stable app visits into sessions, counts recurring ordered routines and weights recent transitions. Predictions abstain for weak or ambiguous evidence. They use counts and rules, not an LLM or calibrated probabilities. File indexing covers user-approved roots and bounded text excerpts. Contextual file ranking combines keyword overlap and metadata. Reviewed rename/move actions with journaling and conflict-aware undo exist in the backend/API; the organizer UI remains a next step. Sources: patterns.py, file_service.py, file_insights.py, context_files.py, file_actions.py, web/files.js at commit 61666c8.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Live collection is off by default. Users can pause it, select retention and delete telemetry history. Approved folder indexing is a separate source of data and can include bounded text excerpts. SQLite data stays in the Windows user profile and is not application-encrypted. Priority changes are individually reviewed 60-second trials on one eligible background process, with manual/timed undo and restart recovery. Recovery can fail and child-process inheritance is outside rollback scope. Maintenance backend actions have different reversibility limits and their dashboard UI is incomplete, so this pitch does not claim every system operation can be undone. Sources: config.py, collector.py, actions.py, storage.py, service.py, maintenance.py, server.py.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implementation uses Python 3.13's standard library with ctypes calls into Win32, two local SQLite catalogs and static HTML/CSS/JavaScript served by a loopback HTTP server. There are zero third-party runtime packages. Pointer-sized Win32 bindings reduce architecture-specific dependencies. The user reports that all 61 automated tests passed on the pictured Snapdragon ARM64 laptop. The supplied photo identifies an HP laptop with processor label Snapdragon X - X126100, Qualcomm Oryon 2.96 GHz, 16 GB RAM, and a 64-bit ARM-based system; it does not identify the HP model. The NPU is not used. Sources: pyproject.toml, telemetry.py, storage.py, file_storage.py, server.py, docs/SNAPDRAGON.md and user's supplied System/About photo. The ARM64 device test result comes from the user, not a test run independently observed by this assistant. Interpreter architecture and performance measurements are not established by that report.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 ran the current repository's entire unit-test suite on the Windows x64 development machine: 61 tests passed in 29.768 seconds on 30 September 2026, at commit 61666c8. Tests cover storage, privacy gates, workflow behavior, approval/recovery, file scanning, file actions, and HTTP integration using controlled fixtures and doubles. The user also reports that all 61 automated tests passed on their Snapdragon ARM64 laptop. These tests do not establish performance gains. The GitHub repository is public and origin/main matches local HEAD. Next steps include recording device diagnostics and controlled performance experiments. The device-test result is user-reported; no ARM64 runtime transcript or timing report was supplied. Reviewed file actions currently expose a backend/API; completing the organizer panel is next. Source: local x64 unittest run, git/gh verification, and the user-confirmed Snapdragon device test in this conversation.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3a9d951d7e004a0d"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3285cec90aff42fd" /><Relationship Type="http://schemas.openxmlformats.org/officeDocument/2006/relationships/slideLayout" Target="/ppt/slideLayouts/slideLayout1.xml" Id="R017628f456844890"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017628f456844890"/>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38dc9dce5da24915" /><Relationship Type="http://schemas.openxmlformats.org/officeDocument/2006/relationships/notesSlide" Target="/ppt/notesSlides/notesSlide1.xml" Id="R269c2aefa8c94ccd"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8727465b1a064924" /><Relationship Type="http://schemas.openxmlformats.org/officeDocument/2006/relationships/notesSlide" Target="/ppt/notesSlides/notesSlide2.xml" Id="R656ab91ef3a04a09"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3ec0b38c13434b73" /><Relationship Type="http://schemas.openxmlformats.org/officeDocument/2006/relationships/image" Target="/ppt/media/image.jpeg" Id="R17fa4d8e2c144909" /><Relationship Type="http://schemas.openxmlformats.org/officeDocument/2006/relationships/notesSlide" Target="/ppt/notesSlides/notesSlide3.xml" Id="Rd2da2993dd3b495f"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98a0bc4945394c17" /><Relationship Type="http://schemas.openxmlformats.org/officeDocument/2006/relationships/notesSlide" Target="/ppt/notesSlides/notesSlide4.xml" Id="R9fdb22cbfc1347b6"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5e4be143a02b4f3a" /><Relationship Type="http://schemas.openxmlformats.org/officeDocument/2006/relationships/notesSlide" Target="/ppt/notesSlides/notesSlide5.xml" Id="Ra10fa9f3abdd46dc"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69562755ea3e47d1" /><Relationship Type="http://schemas.openxmlformats.org/officeDocument/2006/relationships/notesSlide" Target="/ppt/notesSlides/notesSlide6.xml" Id="Rc5d37a69c1644050"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3ab73f506d2c4db3" /><Relationship Type="http://schemas.openxmlformats.org/officeDocument/2006/relationships/notesSlide" Target="/ppt/notesSlides/notesSlide7.xml" Id="R07e2c2092abe4aba" /></Relationships>
</file>

<file path=ppt/slides/slide1.xml><?xml version="1.0" encoding="utf-8"?>
<p:sld xmlns:p="http://schemas.openxmlformats.org/presentationml/2006/main">
  <p:cSld>
    <p:bg>
      <p:bgPr>
        <a:solidFill xmlns:a="http://schemas.openxmlformats.org/drawingml/2006/main">
          <a:srgbClr val="13251E"/>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28A58AC3-0FAD-43CC-BF2A-447CB10D8B7A}"/>
              </a:ext>
            </a:extLst>
          </p:cNvPr>
          <p:cNvSpPr>
            <a:spLocks xmlns:a="http://schemas.openxmlformats.org/drawingml/2006/main" noGrp="1"/>
          </p:cNvSpPr>
          <p:nvPr/>
        </p:nvSpPr>
        <p:spPr>
          <a:xfrm xmlns:a="http://schemas.openxmlformats.org/drawingml/2006/main">
            <a:off x="666750" y="495300"/>
            <a:ext cx="1076325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00" b="1">
                <a:solidFill>
                  <a:srgbClr val="F2F4E9"/>
                </a:solidFill>
                <a:latin typeface="Arial"/>
                <a:ea typeface="Arial"/>
                <a:cs typeface="Arial"/>
              </a:defRPr>
            </a:pPr>
            <a:r>
              <a:rPr sz="3600" b="1">
                <a:solidFill>
                  <a:srgbClr val="F2F4E9"/>
                </a:solidFill>
                <a:latin typeface="Arial"/>
                <a:ea typeface="Arial"/>
                <a:cs typeface="Arial"/>
              </a:rPr>
              <a:t>Kshetrajna</a:t>
            </a:r>
          </a:p>
        </p:txBody>
      </p:sp>
      <p:sp>
        <p:nvSpPr>
          <p:cNvPr id="2" name="">
            <a:extLst xmlns:a="http://schemas.openxmlformats.org/drawingml/2006/main">
              <a:ext uri="{FF2B5EF4-FFF2-40B4-BE49-F238E27FC236}">
                <a16:creationId xmlns:a16="http://schemas.microsoft.com/office/drawing/2014/main" id="{98DB6996-08A7-418D-A128-23AEFD3167A9}"/>
              </a:ext>
            </a:extLst>
          </p:cNvPr>
          <p:cNvSpPr>
            <a:spLocks xmlns:a="http://schemas.openxmlformats.org/drawingml/2006/main" noGrp="1"/>
          </p:cNvSpPr>
          <p:nvPr/>
        </p:nvSpPr>
        <p:spPr>
          <a:xfrm xmlns:a="http://schemas.openxmlformats.org/drawingml/2006/main">
            <a:off x="11144250" y="6257925"/>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B8C6BC"/>
                </a:solidFill>
                <a:latin typeface="Arial"/>
                <a:ea typeface="Arial"/>
                <a:cs typeface="Arial"/>
              </a:defRPr>
            </a:pPr>
            <a:r>
              <a:rPr sz="1425" b="0">
                <a:solidFill>
                  <a:srgbClr val="B8C6BC"/>
                </a:solidFill>
                <a:latin typeface="Arial"/>
                <a:ea typeface="Arial"/>
                <a:cs typeface="Arial"/>
              </a:rPr>
              <a:t>01</a:t>
            </a:r>
          </a:p>
        </p:txBody>
      </p:sp>
      <p:sp>
        <p:nvSpPr>
          <p:cNvPr id="3" name="">
            <a:extLst xmlns:a="http://schemas.openxmlformats.org/drawingml/2006/main">
              <a:ext uri="{FF2B5EF4-FFF2-40B4-BE49-F238E27FC236}">
                <a16:creationId xmlns:a16="http://schemas.microsoft.com/office/drawing/2014/main" id="{9895961F-C47B-49B0-AD1C-23AB66A9B464}"/>
              </a:ext>
            </a:extLst>
          </p:cNvPr>
          <p:cNvSpPr>
            <a:spLocks xmlns:a="http://schemas.openxmlformats.org/drawingml/2006/main" noGrp="1"/>
          </p:cNvSpPr>
          <p:nvPr/>
        </p:nvSpPr>
        <p:spPr>
          <a:xfrm xmlns:a="http://schemas.openxmlformats.org/drawingml/2006/main">
            <a:off x="666750" y="1828800"/>
            <a:ext cx="1038225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200" b="1">
                <a:solidFill>
                  <a:srgbClr val="F2F4E9"/>
                </a:solidFill>
                <a:latin typeface="Arial"/>
                <a:ea typeface="Arial"/>
                <a:cs typeface="Arial"/>
              </a:defRPr>
            </a:pPr>
            <a:r>
              <a:rPr sz="4200" b="1">
                <a:solidFill>
                  <a:srgbClr val="F2F4E9"/>
                </a:solidFill>
                <a:latin typeface="Arial"/>
                <a:ea typeface="Arial"/>
                <a:cs typeface="Arial"/>
              </a:rPr>
              <a:t>Private adaptive intelligence</a:t>
            </a:r>
          </a:p>
          <a:p xmlns:a="http://schemas.openxmlformats.org/drawingml/2006/main">
            <a:pPr>
              <a:defRPr sz="4200" b="1">
                <a:solidFill>
                  <a:srgbClr val="F2F4E9"/>
                </a:solidFill>
                <a:latin typeface="Arial"/>
                <a:ea typeface="Arial"/>
                <a:cs typeface="Arial"/>
              </a:defRPr>
            </a:pPr>
            <a:r>
              <a:rPr sz="4200" b="1">
                <a:solidFill>
                  <a:srgbClr val="F2F4E9"/>
                </a:solidFill>
                <a:latin typeface="Arial"/>
                <a:ea typeface="Arial"/>
                <a:cs typeface="Arial"/>
              </a:rPr>
              <a:t>for Windows</a:t>
            </a:r>
          </a:p>
        </p:txBody>
      </p:sp>
      <p:sp>
        <p:nvSpPr>
          <p:cNvPr id="4" name="">
            <a:extLst xmlns:a="http://schemas.openxmlformats.org/drawingml/2006/main">
              <a:ext uri="{FF2B5EF4-FFF2-40B4-BE49-F238E27FC236}">
                <a16:creationId xmlns:a16="http://schemas.microsoft.com/office/drawing/2014/main" id="{3A15050C-A876-4CE6-8722-A9EAD0F2AE6A}"/>
              </a:ext>
            </a:extLst>
          </p:cNvPr>
          <p:cNvSpPr>
            <a:spLocks xmlns:a="http://schemas.openxmlformats.org/drawingml/2006/main" noGrp="1"/>
          </p:cNvSpPr>
          <p:nvPr/>
        </p:nvSpPr>
        <p:spPr>
          <a:xfrm xmlns:a="http://schemas.openxmlformats.org/drawingml/2006/main">
            <a:off x="695325" y="3714750"/>
            <a:ext cx="966787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C0E7B7"/>
                </a:solidFill>
                <a:latin typeface="Arial"/>
                <a:ea typeface="Arial"/>
                <a:cs typeface="Arial"/>
              </a:defRPr>
            </a:pPr>
            <a:r>
              <a:rPr sz="2250" b="0">
                <a:solidFill>
                  <a:srgbClr val="C0E7B7"/>
                </a:solidFill>
                <a:latin typeface="Arial"/>
                <a:ea typeface="Arial"/>
                <a:cs typeface="Arial"/>
              </a:rPr>
              <a:t>A local assistant that learns app routines and explains its suggestions.</a:t>
            </a:r>
          </a:p>
        </p:txBody>
      </p:sp>
      <p:sp>
        <p:nvSpPr>
          <p:cNvPr id="5" name="">
            <a:extLst xmlns:a="http://schemas.openxmlformats.org/drawingml/2006/main">
              <a:ext uri="{FF2B5EF4-FFF2-40B4-BE49-F238E27FC236}">
                <a16:creationId xmlns:a16="http://schemas.microsoft.com/office/drawing/2014/main" id="{BBC28113-7A9D-4ACD-85DB-F2EC0F6AC8B7}"/>
              </a:ext>
            </a:extLst>
          </p:cNvPr>
          <p:cNvSpPr>
            <a:spLocks xmlns:a="http://schemas.openxmlformats.org/drawingml/2006/main" noGrp="1"/>
          </p:cNvSpPr>
          <p:nvPr/>
        </p:nvSpPr>
        <p:spPr>
          <a:xfrm xmlns:a="http://schemas.openxmlformats.org/drawingml/2006/main">
            <a:off x="695325" y="5467350"/>
            <a:ext cx="5715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B8C6BC"/>
                </a:solidFill>
                <a:latin typeface="Arial"/>
                <a:ea typeface="Arial"/>
                <a:cs typeface="Arial"/>
              </a:defRPr>
            </a:pPr>
            <a:r>
              <a:rPr sz="1875" b="0">
                <a:solidFill>
                  <a:srgbClr val="B8C6BC"/>
                </a:solidFill>
                <a:latin typeface="Arial"/>
                <a:ea typeface="Arial"/>
                <a:cs typeface="Arial"/>
              </a:rPr>
              <a:t>Team SankatMochan</a:t>
            </a:r>
          </a:p>
        </p:txBody>
      </p:sp>
      <p:sp>
        <p:nvSpPr>
          <p:cNvPr id="6" name="">
            <a:extLst xmlns:a="http://schemas.openxmlformats.org/drawingml/2006/main">
              <a:ext uri="{FF2B5EF4-FFF2-40B4-BE49-F238E27FC236}">
                <a16:creationId xmlns:a16="http://schemas.microsoft.com/office/drawing/2014/main" id="{8E6148A1-2C76-4BA4-AA32-E4372103B913}"/>
              </a:ext>
            </a:extLst>
          </p:cNvPr>
          <p:cNvSpPr>
            <a:spLocks xmlns:a="http://schemas.openxmlformats.org/drawingml/2006/main" noGrp="1"/>
          </p:cNvSpPr>
          <p:nvPr/>
        </p:nvSpPr>
        <p:spPr>
          <a:xfrm xmlns:a="http://schemas.openxmlformats.org/drawingml/2006/main">
            <a:off x="695325" y="5895975"/>
            <a:ext cx="6667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B8C6BC"/>
                </a:solidFill>
                <a:latin typeface="Arial"/>
                <a:ea typeface="Arial"/>
                <a:cs typeface="Arial"/>
              </a:defRPr>
            </a:pPr>
            <a:r>
              <a:rPr sz="1725" b="0">
                <a:solidFill>
                  <a:srgbClr val="B8C6BC"/>
                </a:solidFill>
                <a:latin typeface="Arial"/>
                <a:ea typeface="Arial"/>
                <a:cs typeface="Arial"/>
              </a:rPr>
              <a:t>Hackathon prototype v0.3</a:t>
            </a:r>
          </a:p>
        </p:txBody>
      </p:sp>
    </p:spTree>
    <p:extLst>
      <p:ext uri="{BB962C8B-B14F-4D97-AF65-F5344CB8AC3E}">
        <p14:creationId xmlns:p14="http://schemas.microsoft.com/office/powerpoint/2010/main" val="326223970"/>
      </p:ext>
    </p:extLst>
  </p:cSld>
</p:sld>
</file>

<file path=ppt/slides/slide2.xml><?xml version="1.0" encoding="utf-8"?>
<p:sld xmlns:p="http://schemas.openxmlformats.org/presentationml/2006/main">
  <p:cSld>
    <p:bg>
      <p:bgPr>
        <a:solidFill xmlns:a="http://schemas.openxmlformats.org/drawingml/2006/main">
          <a:srgbClr val="13251E"/>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F9A7AB57-C1DA-4A13-94F8-2DA5A3B33D49}"/>
              </a:ext>
            </a:extLst>
          </p:cNvPr>
          <p:cNvSpPr>
            <a:spLocks xmlns:a="http://schemas.openxmlformats.org/drawingml/2006/main" noGrp="1"/>
          </p:cNvSpPr>
          <p:nvPr/>
        </p:nvSpPr>
        <p:spPr>
          <a:xfrm xmlns:a="http://schemas.openxmlformats.org/drawingml/2006/main">
            <a:off x="666750" y="495300"/>
            <a:ext cx="1076325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00" b="1">
                <a:solidFill>
                  <a:srgbClr val="F2F4E9"/>
                </a:solidFill>
                <a:latin typeface="Arial"/>
                <a:ea typeface="Arial"/>
                <a:cs typeface="Arial"/>
              </a:defRPr>
            </a:pPr>
            <a:r>
              <a:rPr sz="3600" b="1">
                <a:solidFill>
                  <a:srgbClr val="F2F4E9"/>
                </a:solidFill>
                <a:latin typeface="Arial"/>
                <a:ea typeface="Arial"/>
                <a:cs typeface="Arial"/>
              </a:rPr>
              <a:t>The problem</a:t>
            </a:r>
          </a:p>
        </p:txBody>
      </p:sp>
      <p:sp>
        <p:nvSpPr>
          <p:cNvPr id="2" name="">
            <a:extLst xmlns:a="http://schemas.openxmlformats.org/drawingml/2006/main">
              <a:ext uri="{FF2B5EF4-FFF2-40B4-BE49-F238E27FC236}">
                <a16:creationId xmlns:a16="http://schemas.microsoft.com/office/drawing/2014/main" id="{1768596D-7957-4783-9292-B3906513D4AD}"/>
              </a:ext>
            </a:extLst>
          </p:cNvPr>
          <p:cNvSpPr>
            <a:spLocks xmlns:a="http://schemas.openxmlformats.org/drawingml/2006/main" noGrp="1"/>
          </p:cNvSpPr>
          <p:nvPr/>
        </p:nvSpPr>
        <p:spPr>
          <a:xfrm xmlns:a="http://schemas.openxmlformats.org/drawingml/2006/main">
            <a:off x="11144250" y="6257925"/>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B8C6BC"/>
                </a:solidFill>
                <a:latin typeface="Arial"/>
                <a:ea typeface="Arial"/>
                <a:cs typeface="Arial"/>
              </a:defRPr>
            </a:pPr>
            <a:r>
              <a:rPr sz="1425" b="0">
                <a:solidFill>
                  <a:srgbClr val="B8C6BC"/>
                </a:solidFill>
                <a:latin typeface="Arial"/>
                <a:ea typeface="Arial"/>
                <a:cs typeface="Arial"/>
              </a:rPr>
              <a:t>02</a:t>
            </a:r>
          </a:p>
        </p:txBody>
      </p:sp>
      <p:sp>
        <p:nvSpPr>
          <p:cNvPr id="3" name="">
            <a:extLst xmlns:a="http://schemas.openxmlformats.org/drawingml/2006/main">
              <a:ext uri="{FF2B5EF4-FFF2-40B4-BE49-F238E27FC236}">
                <a16:creationId xmlns:a16="http://schemas.microsoft.com/office/drawing/2014/main" id="{4C2AB928-FE95-4BBE-827E-EFBFCFDE4199}"/>
              </a:ext>
            </a:extLst>
          </p:cNvPr>
          <p:cNvSpPr>
            <a:spLocks xmlns:a="http://schemas.openxmlformats.org/drawingml/2006/main" noGrp="1"/>
          </p:cNvSpPr>
          <p:nvPr/>
        </p:nvSpPr>
        <p:spPr>
          <a:xfrm xmlns:a="http://schemas.openxmlformats.org/drawingml/2006/main">
            <a:off x="666750" y="1562100"/>
            <a:ext cx="104775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0">
                <a:solidFill>
                  <a:srgbClr val="C0E7B7"/>
                </a:solidFill>
                <a:latin typeface="Arial"/>
                <a:ea typeface="Arial"/>
                <a:cs typeface="Arial"/>
              </a:defRPr>
            </a:pPr>
            <a:r>
              <a:rPr sz="2550" b="0">
                <a:solidFill>
                  <a:srgbClr val="C0E7B7"/>
                </a:solidFill>
                <a:latin typeface="Arial"/>
                <a:ea typeface="Arial"/>
                <a:cs typeface="Arial"/>
              </a:rPr>
              <a:t>Daily work spans apps, system resources and files.</a:t>
            </a:r>
          </a:p>
        </p:txBody>
      </p:sp>
      <p:sp>
        <p:nvSpPr>
          <p:cNvPr id="4" name="">
            <a:extLst xmlns:a="http://schemas.openxmlformats.org/drawingml/2006/main">
              <a:ext uri="{FF2B5EF4-FFF2-40B4-BE49-F238E27FC236}">
                <a16:creationId xmlns:a16="http://schemas.microsoft.com/office/drawing/2014/main" id="{FCD68346-62D6-41D3-849F-272C198BE5B1}"/>
              </a:ext>
            </a:extLst>
          </p:cNvPr>
          <p:cNvSpPr>
            <a:spLocks xmlns:a="http://schemas.openxmlformats.org/drawingml/2006/main" noGrp="1"/>
          </p:cNvSpPr>
          <p:nvPr/>
        </p:nvSpPr>
        <p:spPr>
          <a:xfrm xmlns:a="http://schemas.openxmlformats.org/drawingml/2006/main">
            <a:off x="666750" y="2724150"/>
            <a:ext cx="500062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C0E7B7"/>
                </a:solidFill>
                <a:latin typeface="Arial"/>
                <a:ea typeface="Arial"/>
                <a:cs typeface="Arial"/>
              </a:defRPr>
            </a:pPr>
            <a:r>
              <a:rPr sz="2250" b="1">
                <a:solidFill>
                  <a:srgbClr val="C0E7B7"/>
                </a:solidFill>
                <a:latin typeface="Arial"/>
                <a:ea typeface="Arial"/>
                <a:cs typeface="Arial"/>
              </a:rPr>
              <a:t>Resource pressure</a:t>
            </a:r>
          </a:p>
        </p:txBody>
      </p:sp>
      <p:sp>
        <p:nvSpPr>
          <p:cNvPr id="5" name="">
            <a:extLst xmlns:a="http://schemas.openxmlformats.org/drawingml/2006/main">
              <a:ext uri="{FF2B5EF4-FFF2-40B4-BE49-F238E27FC236}">
                <a16:creationId xmlns:a16="http://schemas.microsoft.com/office/drawing/2014/main" id="{4C00B6AD-7131-4AAB-8809-1691F876ADCC}"/>
              </a:ext>
            </a:extLst>
          </p:cNvPr>
          <p:cNvSpPr>
            <a:spLocks xmlns:a="http://schemas.openxmlformats.org/drawingml/2006/main" noGrp="1"/>
          </p:cNvSpPr>
          <p:nvPr/>
        </p:nvSpPr>
        <p:spPr>
          <a:xfrm xmlns:a="http://schemas.openxmlformats.org/drawingml/2006/main">
            <a:off x="666750" y="3181350"/>
            <a:ext cx="5000625"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F2F4E9"/>
                </a:solidFill>
                <a:latin typeface="Arial"/>
                <a:ea typeface="Arial"/>
                <a:cs typeface="Arial"/>
              </a:defRPr>
            </a:pPr>
            <a:r>
              <a:rPr sz="1950" b="0">
                <a:solidFill>
                  <a:srgbClr val="F2F4E9"/>
                </a:solidFill>
                <a:latin typeface="Arial"/>
                <a:ea typeface="Arial"/>
                <a:cs typeface="Arial"/>
              </a:rPr>
              <a:t>Users inspect CPU and RAM separately from what they are trying to do.</a:t>
            </a:r>
          </a:p>
        </p:txBody>
      </p:sp>
      <p:sp>
        <p:nvSpPr>
          <p:cNvPr id="6" name="">
            <a:extLst xmlns:a="http://schemas.openxmlformats.org/drawingml/2006/main">
              <a:ext uri="{FF2B5EF4-FFF2-40B4-BE49-F238E27FC236}">
                <a16:creationId xmlns:a16="http://schemas.microsoft.com/office/drawing/2014/main" id="{706EE253-3A29-406A-8A19-B84363AE253A}"/>
              </a:ext>
            </a:extLst>
          </p:cNvPr>
          <p:cNvSpPr>
            <a:spLocks xmlns:a="http://schemas.openxmlformats.org/drawingml/2006/main" noGrp="1"/>
          </p:cNvSpPr>
          <p:nvPr/>
        </p:nvSpPr>
        <p:spPr>
          <a:xfrm xmlns:a="http://schemas.openxmlformats.org/drawingml/2006/main">
            <a:off x="6477000" y="2724150"/>
            <a:ext cx="4953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C0E7B7"/>
                </a:solidFill>
                <a:latin typeface="Arial"/>
                <a:ea typeface="Arial"/>
                <a:cs typeface="Arial"/>
              </a:defRPr>
            </a:pPr>
            <a:r>
              <a:rPr sz="2250" b="1">
                <a:solidFill>
                  <a:srgbClr val="C0E7B7"/>
                </a:solidFill>
                <a:latin typeface="Arial"/>
                <a:ea typeface="Arial"/>
                <a:cs typeface="Arial"/>
              </a:rPr>
              <a:t>Scattered context</a:t>
            </a:r>
          </a:p>
        </p:txBody>
      </p:sp>
      <p:sp>
        <p:nvSpPr>
          <p:cNvPr id="7" name="">
            <a:extLst xmlns:a="http://schemas.openxmlformats.org/drawingml/2006/main">
              <a:ext uri="{FF2B5EF4-FFF2-40B4-BE49-F238E27FC236}">
                <a16:creationId xmlns:a16="http://schemas.microsoft.com/office/drawing/2014/main" id="{E871EA25-4CF7-4953-B7BB-CF2144D40C6A}"/>
              </a:ext>
            </a:extLst>
          </p:cNvPr>
          <p:cNvSpPr>
            <a:spLocks xmlns:a="http://schemas.openxmlformats.org/drawingml/2006/main" noGrp="1"/>
          </p:cNvSpPr>
          <p:nvPr/>
        </p:nvSpPr>
        <p:spPr>
          <a:xfrm xmlns:a="http://schemas.openxmlformats.org/drawingml/2006/main">
            <a:off x="6477000" y="3181350"/>
            <a:ext cx="49530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F2F4E9"/>
                </a:solidFill>
                <a:latin typeface="Arial"/>
                <a:ea typeface="Arial"/>
                <a:cs typeface="Arial"/>
              </a:defRPr>
            </a:pPr>
            <a:r>
              <a:rPr sz="1950" b="0">
                <a:solidFill>
                  <a:srgbClr val="F2F4E9"/>
                </a:solidFill>
                <a:latin typeface="Arial"/>
                <a:ea typeface="Arial"/>
                <a:cs typeface="Arial"/>
              </a:rPr>
              <a:t>The files relevant to a workflow sit apart from app activity and system tools.</a:t>
            </a:r>
          </a:p>
        </p:txBody>
      </p:sp>
      <p:sp>
        <p:nvSpPr>
          <p:cNvPr id="8" name="">
            <a:extLst xmlns:a="http://schemas.openxmlformats.org/drawingml/2006/main">
              <a:ext uri="{FF2B5EF4-FFF2-40B4-BE49-F238E27FC236}">
                <a16:creationId xmlns:a16="http://schemas.microsoft.com/office/drawing/2014/main" id="{3C4DD16D-5D73-4B75-AF43-E2F0FBB2C437}"/>
              </a:ext>
            </a:extLst>
          </p:cNvPr>
          <p:cNvSpPr>
            <a:spLocks xmlns:a="http://schemas.openxmlformats.org/drawingml/2006/main" noGrp="1"/>
          </p:cNvSpPr>
          <p:nvPr/>
        </p:nvSpPr>
        <p:spPr>
          <a:xfrm xmlns:a="http://schemas.openxmlformats.org/drawingml/2006/main">
            <a:off x="666750" y="5095875"/>
            <a:ext cx="10668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625" b="1">
                <a:solidFill>
                  <a:srgbClr val="F2F4E9"/>
                </a:solidFill>
                <a:latin typeface="Arial"/>
                <a:ea typeface="Arial"/>
                <a:cs typeface="Arial"/>
              </a:defRPr>
            </a:pPr>
            <a:r>
              <a:rPr sz="2625" b="1">
                <a:solidFill>
                  <a:srgbClr val="F2F4E9"/>
                </a:solidFill>
                <a:latin typeface="Arial"/>
                <a:ea typeface="Arial"/>
                <a:cs typeface="Arial"/>
              </a:rPr>
              <a:t>Kshetrajna brings those signals into one local dashboard.</a:t>
            </a:r>
          </a:p>
        </p:txBody>
      </p:sp>
    </p:spTree>
    <p:extLst>
      <p:ext uri="{BB962C8B-B14F-4D97-AF65-F5344CB8AC3E}">
        <p14:creationId xmlns:p14="http://schemas.microsoft.com/office/powerpoint/2010/main" val="1010428083"/>
      </p:ext>
    </p:extLst>
  </p:cSld>
</p:sld>
</file>

<file path=ppt/slides/slide3.xml><?xml version="1.0" encoding="utf-8"?>
<p:sld xmlns:p="http://schemas.openxmlformats.org/presentationml/2006/main">
  <p:cSld>
    <p:bg>
      <p:bgPr>
        <a:solidFill xmlns:a="http://schemas.openxmlformats.org/drawingml/2006/main">
          <a:srgbClr val="13251E"/>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C8946797-944B-4C47-A47D-97556D396B3A}"/>
              </a:ext>
            </a:extLst>
          </p:cNvPr>
          <p:cNvSpPr>
            <a:spLocks xmlns:a="http://schemas.openxmlformats.org/drawingml/2006/main" noGrp="1"/>
          </p:cNvSpPr>
          <p:nvPr/>
        </p:nvSpPr>
        <p:spPr>
          <a:xfrm xmlns:a="http://schemas.openxmlformats.org/drawingml/2006/main">
            <a:off x="666750" y="495300"/>
            <a:ext cx="1076325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00" b="1">
                <a:solidFill>
                  <a:srgbClr val="F2F4E9"/>
                </a:solidFill>
                <a:latin typeface="Arial"/>
                <a:ea typeface="Arial"/>
                <a:cs typeface="Arial"/>
              </a:defRPr>
            </a:pPr>
            <a:r>
              <a:rPr sz="3600" b="1">
                <a:solidFill>
                  <a:srgbClr val="F2F4E9"/>
                </a:solidFill>
                <a:latin typeface="Arial"/>
                <a:ea typeface="Arial"/>
                <a:cs typeface="Arial"/>
              </a:rPr>
              <a:t>The working dashboard</a:t>
            </a:r>
          </a:p>
        </p:txBody>
      </p:sp>
      <p:sp>
        <p:nvSpPr>
          <p:cNvPr id="2" name="">
            <a:extLst xmlns:a="http://schemas.openxmlformats.org/drawingml/2006/main">
              <a:ext uri="{FF2B5EF4-FFF2-40B4-BE49-F238E27FC236}">
                <a16:creationId xmlns:a16="http://schemas.microsoft.com/office/drawing/2014/main" id="{8A0C10B7-868D-466F-97BB-61F133A78BCF}"/>
              </a:ext>
            </a:extLst>
          </p:cNvPr>
          <p:cNvSpPr>
            <a:spLocks xmlns:a="http://schemas.openxmlformats.org/drawingml/2006/main" noGrp="1"/>
          </p:cNvSpPr>
          <p:nvPr/>
        </p:nvSpPr>
        <p:spPr>
          <a:xfrm xmlns:a="http://schemas.openxmlformats.org/drawingml/2006/main">
            <a:off x="11144250" y="6257925"/>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B8C6BC"/>
                </a:solidFill>
                <a:latin typeface="Arial"/>
                <a:ea typeface="Arial"/>
                <a:cs typeface="Arial"/>
              </a:defRPr>
            </a:pPr>
            <a:r>
              <a:rPr sz="1425" b="0">
                <a:solidFill>
                  <a:srgbClr val="B8C6BC"/>
                </a:solidFill>
                <a:latin typeface="Arial"/>
                <a:ea typeface="Arial"/>
                <a:cs typeface="Arial"/>
              </a:rPr>
              <a:t>03</a:t>
            </a:r>
          </a:p>
        </p:txBody>
      </p:sp>
      <p:pic>
        <p:nvPicPr>
          <p:cNvPr id="11" name=""/>
          <p:cNvPicPr>
            <a:picLocks xmlns:a="http://schemas.openxmlformats.org/drawingml/2006/main" noChangeAspect="1"/>
          </p:cNvPicPr>
          <p:nvPr/>
        </p:nvPicPr>
        <p:blipFill>
          <a:blip xmlns:r="http://schemas.openxmlformats.org/officeDocument/2006/relationships" xmlns:a="http://schemas.openxmlformats.org/drawingml/2006/main" r:embed="R17fa4d8e2c144909"/>
          <a:stretch xmlns:a="http://schemas.openxmlformats.org/drawingml/2006/main"/>
        </p:blipFill>
        <p:spPr>
          <a:xfrm xmlns:a="http://schemas.openxmlformats.org/drawingml/2006/main">
            <a:off x="666750" y="1525337"/>
            <a:ext cx="7762875" cy="4369302"/>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EF5F698B-F173-4C38-8E93-5A98D75562A7}"/>
              </a:ext>
            </a:extLst>
          </p:cNvPr>
          <p:cNvSpPr>
            <a:spLocks xmlns:a="http://schemas.openxmlformats.org/drawingml/2006/main" noGrp="1"/>
          </p:cNvSpPr>
          <p:nvPr/>
        </p:nvSpPr>
        <p:spPr>
          <a:xfrm xmlns:a="http://schemas.openxmlformats.org/drawingml/2006/main">
            <a:off x="8810625" y="1628775"/>
            <a:ext cx="261937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C0E7B7"/>
                </a:solidFill>
                <a:latin typeface="Arial"/>
                <a:ea typeface="Arial"/>
                <a:cs typeface="Arial"/>
              </a:defRPr>
            </a:pPr>
            <a:r>
              <a:rPr sz="2250" b="1">
                <a:solidFill>
                  <a:srgbClr val="C0E7B7"/>
                </a:solidFill>
                <a:latin typeface="Arial"/>
                <a:ea typeface="Arial"/>
                <a:cs typeface="Arial"/>
              </a:rPr>
              <a:t>System view</a:t>
            </a:r>
          </a:p>
        </p:txBody>
      </p:sp>
      <p:sp>
        <p:nvSpPr>
          <p:cNvPr id="5" name="">
            <a:extLst xmlns:a="http://schemas.openxmlformats.org/drawingml/2006/main">
              <a:ext uri="{FF2B5EF4-FFF2-40B4-BE49-F238E27FC236}">
                <a16:creationId xmlns:a16="http://schemas.microsoft.com/office/drawing/2014/main" id="{821492A7-2D81-4001-86B6-7D2B631C7FA0}"/>
              </a:ext>
            </a:extLst>
          </p:cNvPr>
          <p:cNvSpPr>
            <a:spLocks xmlns:a="http://schemas.openxmlformats.org/drawingml/2006/main" noGrp="1"/>
          </p:cNvSpPr>
          <p:nvPr/>
        </p:nvSpPr>
        <p:spPr>
          <a:xfrm xmlns:a="http://schemas.openxmlformats.org/drawingml/2006/main">
            <a:off x="8810625" y="2133600"/>
            <a:ext cx="264795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F2F4E9"/>
                </a:solidFill>
                <a:latin typeface="Arial"/>
                <a:ea typeface="Arial"/>
                <a:cs typeface="Arial"/>
              </a:defRPr>
            </a:pPr>
            <a:r>
              <a:rPr sz="2025" b="0">
                <a:solidFill>
                  <a:srgbClr val="F2F4E9"/>
                </a:solidFill>
                <a:latin typeface="Arial"/>
                <a:ea typeface="Arial"/>
                <a:cs typeface="Arial"/>
              </a:rPr>
              <a:t>CPU, RAM and foreground activity</a:t>
            </a:r>
          </a:p>
        </p:txBody>
      </p:sp>
      <p:sp>
        <p:nvSpPr>
          <p:cNvPr id="6" name="">
            <a:extLst xmlns:a="http://schemas.openxmlformats.org/drawingml/2006/main">
              <a:ext uri="{FF2B5EF4-FFF2-40B4-BE49-F238E27FC236}">
                <a16:creationId xmlns:a16="http://schemas.microsoft.com/office/drawing/2014/main" id="{A6B94CA3-C1DF-4965-A541-9A6A363B1E49}"/>
              </a:ext>
            </a:extLst>
          </p:cNvPr>
          <p:cNvSpPr>
            <a:spLocks xmlns:a="http://schemas.openxmlformats.org/drawingml/2006/main" noGrp="1"/>
          </p:cNvSpPr>
          <p:nvPr/>
        </p:nvSpPr>
        <p:spPr>
          <a:xfrm xmlns:a="http://schemas.openxmlformats.org/drawingml/2006/main">
            <a:off x="8810625" y="3514725"/>
            <a:ext cx="26479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C0E7B7"/>
                </a:solidFill>
                <a:latin typeface="Arial"/>
                <a:ea typeface="Arial"/>
                <a:cs typeface="Arial"/>
              </a:defRPr>
            </a:pPr>
            <a:r>
              <a:rPr sz="2250" b="1">
                <a:solidFill>
                  <a:srgbClr val="C0E7B7"/>
                </a:solidFill>
                <a:latin typeface="Arial"/>
                <a:ea typeface="Arial"/>
                <a:cs typeface="Arial"/>
              </a:rPr>
              <a:t>Personal context</a:t>
            </a:r>
          </a:p>
        </p:txBody>
      </p:sp>
      <p:sp>
        <p:nvSpPr>
          <p:cNvPr id="7" name="">
            <a:extLst xmlns:a="http://schemas.openxmlformats.org/drawingml/2006/main">
              <a:ext uri="{FF2B5EF4-FFF2-40B4-BE49-F238E27FC236}">
                <a16:creationId xmlns:a16="http://schemas.microsoft.com/office/drawing/2014/main" id="{0815D619-ED08-40AE-A9EF-499C891A35FC}"/>
              </a:ext>
            </a:extLst>
          </p:cNvPr>
          <p:cNvSpPr>
            <a:spLocks xmlns:a="http://schemas.openxmlformats.org/drawingml/2006/main" noGrp="1"/>
          </p:cNvSpPr>
          <p:nvPr/>
        </p:nvSpPr>
        <p:spPr>
          <a:xfrm xmlns:a="http://schemas.openxmlformats.org/drawingml/2006/main">
            <a:off x="8810625" y="4029075"/>
            <a:ext cx="2647950" cy="1114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F2F4E9"/>
                </a:solidFill>
                <a:latin typeface="Arial"/>
                <a:ea typeface="Arial"/>
                <a:cs typeface="Arial"/>
              </a:defRPr>
            </a:pPr>
            <a:r>
              <a:rPr sz="2025" b="0">
                <a:solidFill>
                  <a:srgbClr val="F2F4E9"/>
                </a:solidFill>
                <a:latin typeface="Arial"/>
                <a:ea typeface="Arial"/>
                <a:cs typeface="Arial"/>
              </a:rPr>
              <a:t>Workflow routines and relevant local files</a:t>
            </a:r>
          </a:p>
        </p:txBody>
      </p:sp>
      <p:sp>
        <p:nvSpPr>
          <p:cNvPr id="8" name="">
            <a:extLst xmlns:a="http://schemas.openxmlformats.org/drawingml/2006/main">
              <a:ext uri="{FF2B5EF4-FFF2-40B4-BE49-F238E27FC236}">
                <a16:creationId xmlns:a16="http://schemas.microsoft.com/office/drawing/2014/main" id="{D10B5B6A-1364-4033-8E9A-E2F1250B87FC}"/>
              </a:ext>
            </a:extLst>
          </p:cNvPr>
          <p:cNvSpPr>
            <a:spLocks xmlns:a="http://schemas.openxmlformats.org/drawingml/2006/main" noGrp="1"/>
          </p:cNvSpPr>
          <p:nvPr/>
        </p:nvSpPr>
        <p:spPr>
          <a:xfrm xmlns:a="http://schemas.openxmlformats.org/drawingml/2006/main">
            <a:off x="666750" y="6048375"/>
            <a:ext cx="100965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B8C6BC"/>
                </a:solidFill>
                <a:latin typeface="Arial"/>
                <a:ea typeface="Arial"/>
                <a:cs typeface="Arial"/>
              </a:defRPr>
            </a:pPr>
            <a:r>
              <a:rPr sz="1575" b="0">
                <a:solidFill>
                  <a:srgbClr val="B8C6BC"/>
                </a:solidFill>
                <a:latin typeface="Arial"/>
                <a:ea typeface="Arial"/>
                <a:cs typeface="Arial"/>
              </a:rPr>
              <a:t>Screenshot: synthetic demo. Live observation requires user consent.</a:t>
            </a:r>
          </a:p>
        </p:txBody>
      </p:sp>
    </p:spTree>
    <p:extLst>
      <p:ext uri="{BB962C8B-B14F-4D97-AF65-F5344CB8AC3E}">
        <p14:creationId xmlns:p14="http://schemas.microsoft.com/office/powerpoint/2010/main" val="780503811"/>
      </p:ext>
    </p:extLst>
  </p:cSld>
</p:sld>
</file>

<file path=ppt/slides/slide4.xml><?xml version="1.0" encoding="utf-8"?>
<p:sld xmlns:p="http://schemas.openxmlformats.org/presentationml/2006/main">
  <p:cSld>
    <p:bg>
      <p:bgPr>
        <a:solidFill xmlns:a="http://schemas.openxmlformats.org/drawingml/2006/main">
          <a:srgbClr val="13251E"/>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A0848C38-DF72-4BF8-A5FC-C183C5698A7C}"/>
              </a:ext>
            </a:extLst>
          </p:cNvPr>
          <p:cNvSpPr>
            <a:spLocks xmlns:a="http://schemas.openxmlformats.org/drawingml/2006/main" noGrp="1"/>
          </p:cNvSpPr>
          <p:nvPr/>
        </p:nvSpPr>
        <p:spPr>
          <a:xfrm xmlns:a="http://schemas.openxmlformats.org/drawingml/2006/main">
            <a:off x="666750" y="495300"/>
            <a:ext cx="1076325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00" b="1">
                <a:solidFill>
                  <a:srgbClr val="F2F4E9"/>
                </a:solidFill>
                <a:latin typeface="Arial"/>
                <a:ea typeface="Arial"/>
                <a:cs typeface="Arial"/>
              </a:defRPr>
            </a:pPr>
            <a:r>
              <a:rPr sz="3600" b="1">
                <a:solidFill>
                  <a:srgbClr val="F2F4E9"/>
                </a:solidFill>
                <a:latin typeface="Arial"/>
                <a:ea typeface="Arial"/>
                <a:cs typeface="Arial"/>
              </a:rPr>
              <a:t>Workflow and file intelligence</a:t>
            </a:r>
          </a:p>
        </p:txBody>
      </p:sp>
      <p:sp>
        <p:nvSpPr>
          <p:cNvPr id="2" name="">
            <a:extLst xmlns:a="http://schemas.openxmlformats.org/drawingml/2006/main">
              <a:ext uri="{FF2B5EF4-FFF2-40B4-BE49-F238E27FC236}">
                <a16:creationId xmlns:a16="http://schemas.microsoft.com/office/drawing/2014/main" id="{4DD102B8-B78F-4DED-9E58-42C2FDB2E9DE}"/>
              </a:ext>
            </a:extLst>
          </p:cNvPr>
          <p:cNvSpPr>
            <a:spLocks xmlns:a="http://schemas.openxmlformats.org/drawingml/2006/main" noGrp="1"/>
          </p:cNvSpPr>
          <p:nvPr/>
        </p:nvSpPr>
        <p:spPr>
          <a:xfrm xmlns:a="http://schemas.openxmlformats.org/drawingml/2006/main">
            <a:off x="11144250" y="6257925"/>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B8C6BC"/>
                </a:solidFill>
                <a:latin typeface="Arial"/>
                <a:ea typeface="Arial"/>
                <a:cs typeface="Arial"/>
              </a:defRPr>
            </a:pPr>
            <a:r>
              <a:rPr sz="1425" b="0">
                <a:solidFill>
                  <a:srgbClr val="B8C6BC"/>
                </a:solidFill>
                <a:latin typeface="Arial"/>
                <a:ea typeface="Arial"/>
                <a:cs typeface="Arial"/>
              </a:rPr>
              <a:t>04</a:t>
            </a:r>
          </a:p>
        </p:txBody>
      </p:sp>
      <p:sp>
        <p:nvSpPr>
          <p:cNvPr id="3" name="">
            <a:extLst xmlns:a="http://schemas.openxmlformats.org/drawingml/2006/main">
              <a:ext uri="{FF2B5EF4-FFF2-40B4-BE49-F238E27FC236}">
                <a16:creationId xmlns:a16="http://schemas.microsoft.com/office/drawing/2014/main" id="{EEDA0210-8DFC-49C7-9621-CDF27A83F6E6}"/>
              </a:ext>
            </a:extLst>
          </p:cNvPr>
          <p:cNvSpPr>
            <a:spLocks xmlns:a="http://schemas.openxmlformats.org/drawingml/2006/main" noGrp="1"/>
          </p:cNvSpPr>
          <p:nvPr/>
        </p:nvSpPr>
        <p:spPr>
          <a:xfrm xmlns:a="http://schemas.openxmlformats.org/drawingml/2006/main">
            <a:off x="666750" y="1685925"/>
            <a:ext cx="4953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C0E7B7"/>
                </a:solidFill>
                <a:latin typeface="Arial"/>
                <a:ea typeface="Arial"/>
                <a:cs typeface="Arial"/>
              </a:defRPr>
            </a:pPr>
            <a:r>
              <a:rPr sz="2250" b="1">
                <a:solidFill>
                  <a:srgbClr val="C0E7B7"/>
                </a:solidFill>
                <a:latin typeface="Arial"/>
                <a:ea typeface="Arial"/>
                <a:cs typeface="Arial"/>
              </a:rPr>
              <a:t>App routines</a:t>
            </a:r>
          </a:p>
        </p:txBody>
      </p:sp>
      <p:sp>
        <p:nvSpPr>
          <p:cNvPr id="4" name="">
            <a:extLst xmlns:a="http://schemas.openxmlformats.org/drawingml/2006/main">
              <a:ext uri="{FF2B5EF4-FFF2-40B4-BE49-F238E27FC236}">
                <a16:creationId xmlns:a16="http://schemas.microsoft.com/office/drawing/2014/main" id="{1985073B-920F-4A93-94AC-C1FE03CED634}"/>
              </a:ext>
            </a:extLst>
          </p:cNvPr>
          <p:cNvSpPr>
            <a:spLocks xmlns:a="http://schemas.openxmlformats.org/drawingml/2006/main" noGrp="1"/>
          </p:cNvSpPr>
          <p:nvPr/>
        </p:nvSpPr>
        <p:spPr>
          <a:xfrm xmlns:a="http://schemas.openxmlformats.org/drawingml/2006/main">
            <a:off x="666750" y="2143125"/>
            <a:ext cx="49530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F2F4E9"/>
                </a:solidFill>
                <a:latin typeface="Arial"/>
                <a:ea typeface="Arial"/>
                <a:cs typeface="Arial"/>
              </a:defRPr>
            </a:pPr>
            <a:r>
              <a:rPr sz="1950" b="0">
                <a:solidFill>
                  <a:srgbClr val="F2F4E9"/>
                </a:solidFill>
                <a:latin typeface="Arial"/>
                <a:ea typeface="Arial"/>
                <a:cs typeface="Arial"/>
              </a:rPr>
              <a:t>Recognizes recurring app groups and the order in which apps appear.</a:t>
            </a:r>
          </a:p>
        </p:txBody>
      </p:sp>
      <p:sp>
        <p:nvSpPr>
          <p:cNvPr id="5" name="">
            <a:extLst xmlns:a="http://schemas.openxmlformats.org/drawingml/2006/main">
              <a:ext uri="{FF2B5EF4-FFF2-40B4-BE49-F238E27FC236}">
                <a16:creationId xmlns:a16="http://schemas.microsoft.com/office/drawing/2014/main" id="{C7989AF8-CBE9-4631-965A-E67E275BBEB2}"/>
              </a:ext>
            </a:extLst>
          </p:cNvPr>
          <p:cNvSpPr>
            <a:spLocks xmlns:a="http://schemas.openxmlformats.org/drawingml/2006/main" noGrp="1"/>
          </p:cNvSpPr>
          <p:nvPr/>
        </p:nvSpPr>
        <p:spPr>
          <a:xfrm xmlns:a="http://schemas.openxmlformats.org/drawingml/2006/main">
            <a:off x="6477000" y="1685925"/>
            <a:ext cx="4953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C0E7B7"/>
                </a:solidFill>
                <a:latin typeface="Arial"/>
                <a:ea typeface="Arial"/>
                <a:cs typeface="Arial"/>
              </a:defRPr>
            </a:pPr>
            <a:r>
              <a:rPr sz="2250" b="1">
                <a:solidFill>
                  <a:srgbClr val="C0E7B7"/>
                </a:solidFill>
                <a:latin typeface="Arial"/>
                <a:ea typeface="Arial"/>
                <a:cs typeface="Arial"/>
              </a:rPr>
              <a:t>Local file catalog</a:t>
            </a:r>
          </a:p>
        </p:txBody>
      </p:sp>
      <p:sp>
        <p:nvSpPr>
          <p:cNvPr id="6" name="">
            <a:extLst xmlns:a="http://schemas.openxmlformats.org/drawingml/2006/main">
              <a:ext uri="{FF2B5EF4-FFF2-40B4-BE49-F238E27FC236}">
                <a16:creationId xmlns:a16="http://schemas.microsoft.com/office/drawing/2014/main" id="{ACD109C1-E7AB-4B4B-B051-09A0F9787209}"/>
              </a:ext>
            </a:extLst>
          </p:cNvPr>
          <p:cNvSpPr>
            <a:spLocks xmlns:a="http://schemas.openxmlformats.org/drawingml/2006/main" noGrp="1"/>
          </p:cNvSpPr>
          <p:nvPr/>
        </p:nvSpPr>
        <p:spPr>
          <a:xfrm xmlns:a="http://schemas.openxmlformats.org/drawingml/2006/main">
            <a:off x="6477000" y="2143125"/>
            <a:ext cx="49530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F2F4E9"/>
                </a:solidFill>
                <a:latin typeface="Arial"/>
                <a:ea typeface="Arial"/>
                <a:cs typeface="Arial"/>
              </a:defRPr>
            </a:pPr>
            <a:r>
              <a:rPr sz="1950" b="0">
                <a:solidFill>
                  <a:srgbClr val="F2F4E9"/>
                </a:solidFill>
                <a:latin typeface="Arial"/>
                <a:ea typeface="Arial"/>
                <a:cs typeface="Arial"/>
              </a:rPr>
              <a:t>Indexes approved folders with metadata and bounded text excerpts.</a:t>
            </a:r>
          </a:p>
        </p:txBody>
      </p:sp>
      <p:sp>
        <p:nvSpPr>
          <p:cNvPr id="7" name="">
            <a:extLst xmlns:a="http://schemas.openxmlformats.org/drawingml/2006/main">
              <a:ext uri="{FF2B5EF4-FFF2-40B4-BE49-F238E27FC236}">
                <a16:creationId xmlns:a16="http://schemas.microsoft.com/office/drawing/2014/main" id="{037BEEFE-9505-4E55-AC98-6351B35B798A}"/>
              </a:ext>
            </a:extLst>
          </p:cNvPr>
          <p:cNvSpPr>
            <a:spLocks xmlns:a="http://schemas.openxmlformats.org/drawingml/2006/main" noGrp="1"/>
          </p:cNvSpPr>
          <p:nvPr/>
        </p:nvSpPr>
        <p:spPr>
          <a:xfrm xmlns:a="http://schemas.openxmlformats.org/drawingml/2006/main">
            <a:off x="666750" y="3429000"/>
            <a:ext cx="4953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C0E7B7"/>
                </a:solidFill>
                <a:latin typeface="Arial"/>
                <a:ea typeface="Arial"/>
                <a:cs typeface="Arial"/>
              </a:defRPr>
            </a:pPr>
            <a:r>
              <a:rPr sz="2250" b="1">
                <a:solidFill>
                  <a:srgbClr val="C0E7B7"/>
                </a:solidFill>
                <a:latin typeface="Arial"/>
                <a:ea typeface="Arial"/>
                <a:cs typeface="Arial"/>
              </a:rPr>
              <a:t>Next-app suggestions</a:t>
            </a:r>
          </a:p>
        </p:txBody>
      </p:sp>
      <p:sp>
        <p:nvSpPr>
          <p:cNvPr id="8" name="">
            <a:extLst xmlns:a="http://schemas.openxmlformats.org/drawingml/2006/main">
              <a:ext uri="{FF2B5EF4-FFF2-40B4-BE49-F238E27FC236}">
                <a16:creationId xmlns:a16="http://schemas.microsoft.com/office/drawing/2014/main" id="{21E183B0-0BAD-4495-8B0A-800795EB1A59}"/>
              </a:ext>
            </a:extLst>
          </p:cNvPr>
          <p:cNvSpPr>
            <a:spLocks xmlns:a="http://schemas.openxmlformats.org/drawingml/2006/main" noGrp="1"/>
          </p:cNvSpPr>
          <p:nvPr/>
        </p:nvSpPr>
        <p:spPr>
          <a:xfrm xmlns:a="http://schemas.openxmlformats.org/drawingml/2006/main">
            <a:off x="666750" y="3886200"/>
            <a:ext cx="49530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F2F4E9"/>
                </a:solidFill>
                <a:latin typeface="Arial"/>
                <a:ea typeface="Arial"/>
                <a:cs typeface="Arial"/>
              </a:defRPr>
            </a:pPr>
            <a:r>
              <a:rPr sz="1950" b="0">
                <a:solidFill>
                  <a:srgbClr val="F2F4E9"/>
                </a:solidFill>
                <a:latin typeface="Arial"/>
                <a:ea typeface="Arial"/>
                <a:cs typeface="Arial"/>
              </a:rPr>
              <a:t>Uses recent session history and withholds weak predictions.</a:t>
            </a:r>
          </a:p>
        </p:txBody>
      </p:sp>
      <p:sp>
        <p:nvSpPr>
          <p:cNvPr id="9" name="">
            <a:extLst xmlns:a="http://schemas.openxmlformats.org/drawingml/2006/main">
              <a:ext uri="{FF2B5EF4-FFF2-40B4-BE49-F238E27FC236}">
                <a16:creationId xmlns:a16="http://schemas.microsoft.com/office/drawing/2014/main" id="{8884B37A-34F7-4009-8838-5EA09B49586C}"/>
              </a:ext>
            </a:extLst>
          </p:cNvPr>
          <p:cNvSpPr>
            <a:spLocks xmlns:a="http://schemas.openxmlformats.org/drawingml/2006/main" noGrp="1"/>
          </p:cNvSpPr>
          <p:nvPr/>
        </p:nvSpPr>
        <p:spPr>
          <a:xfrm xmlns:a="http://schemas.openxmlformats.org/drawingml/2006/main">
            <a:off x="6477000" y="3429000"/>
            <a:ext cx="4953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C0E7B7"/>
                </a:solidFill>
                <a:latin typeface="Arial"/>
                <a:ea typeface="Arial"/>
                <a:cs typeface="Arial"/>
              </a:defRPr>
            </a:pPr>
            <a:r>
              <a:rPr sz="2250" b="1">
                <a:solidFill>
                  <a:srgbClr val="C0E7B7"/>
                </a:solidFill>
                <a:latin typeface="Arial"/>
                <a:ea typeface="Arial"/>
                <a:cs typeface="Arial"/>
              </a:rPr>
              <a:t>Relevant files</a:t>
            </a:r>
          </a:p>
        </p:txBody>
      </p:sp>
      <p:sp>
        <p:nvSpPr>
          <p:cNvPr id="10" name="">
            <a:extLst xmlns:a="http://schemas.openxmlformats.org/drawingml/2006/main">
              <a:ext uri="{FF2B5EF4-FFF2-40B4-BE49-F238E27FC236}">
                <a16:creationId xmlns:a16="http://schemas.microsoft.com/office/drawing/2014/main" id="{331D6AEF-C64E-4CEB-AC06-479152A2C556}"/>
              </a:ext>
            </a:extLst>
          </p:cNvPr>
          <p:cNvSpPr>
            <a:spLocks xmlns:a="http://schemas.openxmlformats.org/drawingml/2006/main" noGrp="1"/>
          </p:cNvSpPr>
          <p:nvPr/>
        </p:nvSpPr>
        <p:spPr>
          <a:xfrm xmlns:a="http://schemas.openxmlformats.org/drawingml/2006/main">
            <a:off x="6477000" y="3886200"/>
            <a:ext cx="49530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F2F4E9"/>
                </a:solidFill>
                <a:latin typeface="Arial"/>
                <a:ea typeface="Arial"/>
                <a:cs typeface="Arial"/>
              </a:defRPr>
            </a:pPr>
            <a:r>
              <a:rPr sz="1950" b="0">
                <a:solidFill>
                  <a:srgbClr val="F2F4E9"/>
                </a:solidFill>
                <a:latin typeface="Arial"/>
                <a:ea typeface="Arial"/>
                <a:cs typeface="Arial"/>
              </a:rPr>
              <a:t>Offers keyword search and explains why a file matches the current context.</a:t>
            </a:r>
          </a:p>
        </p:txBody>
      </p:sp>
      <p:sp>
        <p:nvSpPr>
          <p:cNvPr id="11" name="">
            <a:extLst xmlns:a="http://schemas.openxmlformats.org/drawingml/2006/main">
              <a:ext uri="{FF2B5EF4-FFF2-40B4-BE49-F238E27FC236}">
                <a16:creationId xmlns:a16="http://schemas.microsoft.com/office/drawing/2014/main" id="{4553036D-B2EE-4292-B8B8-C25F315F8E9C}"/>
              </a:ext>
            </a:extLst>
          </p:cNvPr>
          <p:cNvSpPr>
            <a:spLocks xmlns:a="http://schemas.openxmlformats.org/drawingml/2006/main" noGrp="1"/>
          </p:cNvSpPr>
          <p:nvPr/>
        </p:nvSpPr>
        <p:spPr>
          <a:xfrm xmlns:a="http://schemas.openxmlformats.org/drawingml/2006/main">
            <a:off x="666750" y="5476875"/>
            <a:ext cx="10763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B8C6BC"/>
                </a:solidFill>
                <a:latin typeface="Arial"/>
                <a:ea typeface="Arial"/>
                <a:cs typeface="Arial"/>
              </a:defRPr>
            </a:pPr>
            <a:r>
              <a:rPr sz="1875" b="0">
                <a:solidFill>
                  <a:srgbClr val="B8C6BC"/>
                </a:solidFill>
                <a:latin typeface="Arial"/>
                <a:ea typeface="Arial"/>
                <a:cs typeface="Arial"/>
              </a:rPr>
              <a:t>Reviewed move/rename API includes a journal and conflict-aware undo.</a:t>
            </a:r>
          </a:p>
        </p:txBody>
      </p:sp>
    </p:spTree>
    <p:extLst>
      <p:ext uri="{BB962C8B-B14F-4D97-AF65-F5344CB8AC3E}">
        <p14:creationId xmlns:p14="http://schemas.microsoft.com/office/powerpoint/2010/main" val="1604735129"/>
      </p:ext>
    </p:extLst>
  </p:cSld>
</p:sld>
</file>

<file path=ppt/slides/slide5.xml><?xml version="1.0" encoding="utf-8"?>
<p:sld xmlns:p="http://schemas.openxmlformats.org/presentationml/2006/main">
  <p:cSld>
    <p:bg>
      <p:bgPr>
        <a:solidFill xmlns:a="http://schemas.openxmlformats.org/drawingml/2006/main">
          <a:srgbClr val="13251E"/>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2E0F660B-5732-4A53-8FB7-3405F6D67DBA}"/>
              </a:ext>
            </a:extLst>
          </p:cNvPr>
          <p:cNvSpPr>
            <a:spLocks xmlns:a="http://schemas.openxmlformats.org/drawingml/2006/main" noGrp="1"/>
          </p:cNvSpPr>
          <p:nvPr/>
        </p:nvSpPr>
        <p:spPr>
          <a:xfrm xmlns:a="http://schemas.openxmlformats.org/drawingml/2006/main">
            <a:off x="666750" y="495300"/>
            <a:ext cx="1076325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00" b="1">
                <a:solidFill>
                  <a:srgbClr val="F2F4E9"/>
                </a:solidFill>
                <a:latin typeface="Arial"/>
                <a:ea typeface="Arial"/>
                <a:cs typeface="Arial"/>
              </a:defRPr>
            </a:pPr>
            <a:r>
              <a:rPr sz="3600" b="1">
                <a:solidFill>
                  <a:srgbClr val="F2F4E9"/>
                </a:solidFill>
                <a:latin typeface="Arial"/>
                <a:ea typeface="Arial"/>
                <a:cs typeface="Arial"/>
              </a:rPr>
              <a:t>Consent and privacy</a:t>
            </a:r>
          </a:p>
        </p:txBody>
      </p:sp>
      <p:sp>
        <p:nvSpPr>
          <p:cNvPr id="2" name="">
            <a:extLst xmlns:a="http://schemas.openxmlformats.org/drawingml/2006/main">
              <a:ext uri="{FF2B5EF4-FFF2-40B4-BE49-F238E27FC236}">
                <a16:creationId xmlns:a16="http://schemas.microsoft.com/office/drawing/2014/main" id="{51380996-B8B1-4427-A9E6-942148B42FF2}"/>
              </a:ext>
            </a:extLst>
          </p:cNvPr>
          <p:cNvSpPr>
            <a:spLocks xmlns:a="http://schemas.openxmlformats.org/drawingml/2006/main" noGrp="1"/>
          </p:cNvSpPr>
          <p:nvPr/>
        </p:nvSpPr>
        <p:spPr>
          <a:xfrm xmlns:a="http://schemas.openxmlformats.org/drawingml/2006/main">
            <a:off x="11144250" y="6257925"/>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B8C6BC"/>
                </a:solidFill>
                <a:latin typeface="Arial"/>
                <a:ea typeface="Arial"/>
                <a:cs typeface="Arial"/>
              </a:defRPr>
            </a:pPr>
            <a:r>
              <a:rPr sz="1425" b="0">
                <a:solidFill>
                  <a:srgbClr val="B8C6BC"/>
                </a:solidFill>
                <a:latin typeface="Arial"/>
                <a:ea typeface="Arial"/>
                <a:cs typeface="Arial"/>
              </a:rPr>
              <a:t>05</a:t>
            </a:r>
          </a:p>
        </p:txBody>
      </p:sp>
      <p:sp>
        <p:nvSpPr>
          <p:cNvPr id="3" name="">
            <a:extLst xmlns:a="http://schemas.openxmlformats.org/drawingml/2006/main">
              <a:ext uri="{FF2B5EF4-FFF2-40B4-BE49-F238E27FC236}">
                <a16:creationId xmlns:a16="http://schemas.microsoft.com/office/drawing/2014/main" id="{318059CD-C6F3-46BD-AB8D-4788C90E7D14}"/>
              </a:ext>
            </a:extLst>
          </p:cNvPr>
          <p:cNvSpPr>
            <a:spLocks xmlns:a="http://schemas.openxmlformats.org/drawingml/2006/main" noGrp="1"/>
          </p:cNvSpPr>
          <p:nvPr/>
        </p:nvSpPr>
        <p:spPr>
          <a:xfrm xmlns:a="http://schemas.openxmlformats.org/drawingml/2006/main">
            <a:off x="666750" y="1695450"/>
            <a:ext cx="500062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C0E7B7"/>
                </a:solidFill>
                <a:latin typeface="Arial"/>
                <a:ea typeface="Arial"/>
                <a:cs typeface="Arial"/>
              </a:defRPr>
            </a:pPr>
            <a:r>
              <a:rPr sz="2250" b="1">
                <a:solidFill>
                  <a:srgbClr val="C0E7B7"/>
                </a:solidFill>
                <a:latin typeface="Arial"/>
                <a:ea typeface="Arial"/>
                <a:cs typeface="Arial"/>
              </a:rPr>
              <a:t>User-controlled collection</a:t>
            </a:r>
          </a:p>
        </p:txBody>
      </p:sp>
      <p:sp>
        <p:nvSpPr>
          <p:cNvPr id="4" name="">
            <a:extLst xmlns:a="http://schemas.openxmlformats.org/drawingml/2006/main">
              <a:ext uri="{FF2B5EF4-FFF2-40B4-BE49-F238E27FC236}">
                <a16:creationId xmlns:a16="http://schemas.microsoft.com/office/drawing/2014/main" id="{B96A84AA-8006-4F41-A768-1EADC607172E}"/>
              </a:ext>
            </a:extLst>
          </p:cNvPr>
          <p:cNvSpPr>
            <a:spLocks xmlns:a="http://schemas.openxmlformats.org/drawingml/2006/main" noGrp="1"/>
          </p:cNvSpPr>
          <p:nvPr/>
        </p:nvSpPr>
        <p:spPr>
          <a:xfrm xmlns:a="http://schemas.openxmlformats.org/drawingml/2006/main">
            <a:off x="666750" y="2152650"/>
            <a:ext cx="5000625"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F2F4E9"/>
                </a:solidFill>
                <a:latin typeface="Arial"/>
                <a:ea typeface="Arial"/>
                <a:cs typeface="Arial"/>
              </a:defRPr>
            </a:pPr>
            <a:r>
              <a:rPr sz="1950" b="0">
                <a:solidFill>
                  <a:srgbClr val="F2F4E9"/>
                </a:solidFill>
                <a:latin typeface="Arial"/>
                <a:ea typeface="Arial"/>
                <a:cs typeface="Arial"/>
              </a:rPr>
              <a:t>Live observation starts only after opt-in. Pause, retention and deletion controls remain visible.</a:t>
            </a:r>
          </a:p>
        </p:txBody>
      </p:sp>
      <p:sp>
        <p:nvSpPr>
          <p:cNvPr id="5" name="">
            <a:extLst xmlns:a="http://schemas.openxmlformats.org/drawingml/2006/main">
              <a:ext uri="{FF2B5EF4-FFF2-40B4-BE49-F238E27FC236}">
                <a16:creationId xmlns:a16="http://schemas.microsoft.com/office/drawing/2014/main" id="{587FD92E-80E0-494C-8D7B-AB4B5B7808AC}"/>
              </a:ext>
            </a:extLst>
          </p:cNvPr>
          <p:cNvSpPr>
            <a:spLocks xmlns:a="http://schemas.openxmlformats.org/drawingml/2006/main" noGrp="1"/>
          </p:cNvSpPr>
          <p:nvPr/>
        </p:nvSpPr>
        <p:spPr>
          <a:xfrm xmlns:a="http://schemas.openxmlformats.org/drawingml/2006/main">
            <a:off x="6477000" y="1695450"/>
            <a:ext cx="4953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C0E7B7"/>
                </a:solidFill>
                <a:latin typeface="Arial"/>
                <a:ea typeface="Arial"/>
                <a:cs typeface="Arial"/>
              </a:defRPr>
            </a:pPr>
            <a:r>
              <a:rPr sz="2250" b="1">
                <a:solidFill>
                  <a:srgbClr val="C0E7B7"/>
                </a:solidFill>
                <a:latin typeface="Arial"/>
                <a:ea typeface="Arial"/>
                <a:cs typeface="Arial"/>
              </a:rPr>
              <a:t>Local processing</a:t>
            </a:r>
          </a:p>
        </p:txBody>
      </p:sp>
      <p:sp>
        <p:nvSpPr>
          <p:cNvPr id="6" name="">
            <a:extLst xmlns:a="http://schemas.openxmlformats.org/drawingml/2006/main">
              <a:ext uri="{FF2B5EF4-FFF2-40B4-BE49-F238E27FC236}">
                <a16:creationId xmlns:a16="http://schemas.microsoft.com/office/drawing/2014/main" id="{EE4F638B-86A5-44E7-B3E8-8700364C126F}"/>
              </a:ext>
            </a:extLst>
          </p:cNvPr>
          <p:cNvSpPr>
            <a:spLocks xmlns:a="http://schemas.openxmlformats.org/drawingml/2006/main" noGrp="1"/>
          </p:cNvSpPr>
          <p:nvPr/>
        </p:nvSpPr>
        <p:spPr>
          <a:xfrm xmlns:a="http://schemas.openxmlformats.org/drawingml/2006/main">
            <a:off x="6477000" y="2152650"/>
            <a:ext cx="49530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F2F4E9"/>
                </a:solidFill>
                <a:latin typeface="Arial"/>
                <a:ea typeface="Arial"/>
                <a:cs typeface="Arial"/>
              </a:defRPr>
            </a:pPr>
            <a:r>
              <a:rPr sz="1950" b="0">
                <a:solidFill>
                  <a:srgbClr val="F2F4E9"/>
                </a:solidFill>
                <a:latin typeface="Arial"/>
                <a:ea typeface="Arial"/>
                <a:cs typeface="Arial"/>
              </a:rPr>
              <a:t>Python and SQLite run on the laptop. The dashboard binds to loopback.</a:t>
            </a:r>
          </a:p>
        </p:txBody>
      </p:sp>
      <p:sp>
        <p:nvSpPr>
          <p:cNvPr id="7" name="">
            <a:extLst xmlns:a="http://schemas.openxmlformats.org/drawingml/2006/main">
              <a:ext uri="{FF2B5EF4-FFF2-40B4-BE49-F238E27FC236}">
                <a16:creationId xmlns:a16="http://schemas.microsoft.com/office/drawing/2014/main" id="{9D367181-D08B-4003-B55A-E2A5BB669417}"/>
              </a:ext>
            </a:extLst>
          </p:cNvPr>
          <p:cNvSpPr>
            <a:spLocks xmlns:a="http://schemas.openxmlformats.org/drawingml/2006/main" noGrp="1"/>
          </p:cNvSpPr>
          <p:nvPr/>
        </p:nvSpPr>
        <p:spPr>
          <a:xfrm xmlns:a="http://schemas.openxmlformats.org/drawingml/2006/main">
            <a:off x="666750" y="3657600"/>
            <a:ext cx="500062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C0E7B7"/>
                </a:solidFill>
                <a:latin typeface="Arial"/>
                <a:ea typeface="Arial"/>
                <a:cs typeface="Arial"/>
              </a:defRPr>
            </a:pPr>
            <a:r>
              <a:rPr sz="2250" b="1">
                <a:solidFill>
                  <a:srgbClr val="C0E7B7"/>
                </a:solidFill>
                <a:latin typeface="Arial"/>
                <a:ea typeface="Arial"/>
                <a:cs typeface="Arial"/>
              </a:rPr>
              <a:t>Reviewed resource trials</a:t>
            </a:r>
          </a:p>
        </p:txBody>
      </p:sp>
      <p:sp>
        <p:nvSpPr>
          <p:cNvPr id="8" name="">
            <a:extLst xmlns:a="http://schemas.openxmlformats.org/drawingml/2006/main">
              <a:ext uri="{FF2B5EF4-FFF2-40B4-BE49-F238E27FC236}">
                <a16:creationId xmlns:a16="http://schemas.microsoft.com/office/drawing/2014/main" id="{2712FFB1-5773-490E-900D-86F06690B344}"/>
              </a:ext>
            </a:extLst>
          </p:cNvPr>
          <p:cNvSpPr>
            <a:spLocks xmlns:a="http://schemas.openxmlformats.org/drawingml/2006/main" noGrp="1"/>
          </p:cNvSpPr>
          <p:nvPr/>
        </p:nvSpPr>
        <p:spPr>
          <a:xfrm xmlns:a="http://schemas.openxmlformats.org/drawingml/2006/main">
            <a:off x="666750" y="4114800"/>
            <a:ext cx="5000625"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F2F4E9"/>
                </a:solidFill>
                <a:latin typeface="Arial"/>
                <a:ea typeface="Arial"/>
                <a:cs typeface="Arial"/>
              </a:defRPr>
            </a:pPr>
            <a:r>
              <a:rPr sz="1950" b="0">
                <a:solidFill>
                  <a:srgbClr val="F2F4E9"/>
                </a:solidFill>
                <a:latin typeface="Arial"/>
                <a:ea typeface="Arial"/>
                <a:cs typeface="Arial"/>
              </a:rPr>
              <a:t>Eligible CPU-priority changes require approval and expire after 60 seconds.</a:t>
            </a:r>
          </a:p>
        </p:txBody>
      </p:sp>
      <p:sp>
        <p:nvSpPr>
          <p:cNvPr id="9" name="">
            <a:extLst xmlns:a="http://schemas.openxmlformats.org/drawingml/2006/main">
              <a:ext uri="{FF2B5EF4-FFF2-40B4-BE49-F238E27FC236}">
                <a16:creationId xmlns:a16="http://schemas.microsoft.com/office/drawing/2014/main" id="{EF3604B7-01D7-4A12-A460-691DAA772FAF}"/>
              </a:ext>
            </a:extLst>
          </p:cNvPr>
          <p:cNvSpPr>
            <a:spLocks xmlns:a="http://schemas.openxmlformats.org/drawingml/2006/main" noGrp="1"/>
          </p:cNvSpPr>
          <p:nvPr/>
        </p:nvSpPr>
        <p:spPr>
          <a:xfrm xmlns:a="http://schemas.openxmlformats.org/drawingml/2006/main">
            <a:off x="6477000" y="3657600"/>
            <a:ext cx="4953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C0E7B7"/>
                </a:solidFill>
                <a:latin typeface="Arial"/>
                <a:ea typeface="Arial"/>
                <a:cs typeface="Arial"/>
              </a:defRPr>
            </a:pPr>
            <a:r>
              <a:rPr sz="2250" b="1">
                <a:solidFill>
                  <a:srgbClr val="C0E7B7"/>
                </a:solidFill>
                <a:latin typeface="Arial"/>
                <a:ea typeface="Arial"/>
                <a:cs typeface="Arial"/>
              </a:rPr>
              <a:t>Recorded outcomes</a:t>
            </a:r>
          </a:p>
        </p:txBody>
      </p:sp>
      <p:sp>
        <p:nvSpPr>
          <p:cNvPr id="10" name="">
            <a:extLst xmlns:a="http://schemas.openxmlformats.org/drawingml/2006/main">
              <a:ext uri="{FF2B5EF4-FFF2-40B4-BE49-F238E27FC236}">
                <a16:creationId xmlns:a16="http://schemas.microsoft.com/office/drawing/2014/main" id="{BCEEA7E0-6F79-431B-9ACC-E63ACE7741CD}"/>
              </a:ext>
            </a:extLst>
          </p:cNvPr>
          <p:cNvSpPr>
            <a:spLocks xmlns:a="http://schemas.openxmlformats.org/drawingml/2006/main" noGrp="1"/>
          </p:cNvSpPr>
          <p:nvPr/>
        </p:nvSpPr>
        <p:spPr>
          <a:xfrm xmlns:a="http://schemas.openxmlformats.org/drawingml/2006/main">
            <a:off x="6477000" y="4114800"/>
            <a:ext cx="49530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F2F4E9"/>
                </a:solidFill>
                <a:latin typeface="Arial"/>
                <a:ea typeface="Arial"/>
                <a:cs typeface="Arial"/>
              </a:defRPr>
            </a:pPr>
            <a:r>
              <a:rPr sz="1950" b="0">
                <a:solidFill>
                  <a:srgbClr val="F2F4E9"/>
                </a:solidFill>
                <a:latin typeface="Arial"/>
                <a:ea typeface="Arial"/>
                <a:cs typeface="Arial"/>
              </a:rPr>
              <a:t>The journal keeps approvals and undo status. Before/after deltas are observations.</a:t>
            </a:r>
          </a:p>
        </p:txBody>
      </p:sp>
      <p:sp>
        <p:nvSpPr>
          <p:cNvPr id="11" name="">
            <a:extLst xmlns:a="http://schemas.openxmlformats.org/drawingml/2006/main">
              <a:ext uri="{FF2B5EF4-FFF2-40B4-BE49-F238E27FC236}">
                <a16:creationId xmlns:a16="http://schemas.microsoft.com/office/drawing/2014/main" id="{310A12F4-89D0-40FF-91AB-0BE12F5282A3}"/>
              </a:ext>
            </a:extLst>
          </p:cNvPr>
          <p:cNvSpPr>
            <a:spLocks xmlns:a="http://schemas.openxmlformats.org/drawingml/2006/main" noGrp="1"/>
          </p:cNvSpPr>
          <p:nvPr/>
        </p:nvSpPr>
        <p:spPr>
          <a:xfrm xmlns:a="http://schemas.openxmlformats.org/drawingml/2006/main">
            <a:off x="666750" y="5715000"/>
            <a:ext cx="106680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B8C6BC"/>
                </a:solidFill>
                <a:latin typeface="Arial"/>
                <a:ea typeface="Arial"/>
                <a:cs typeface="Arial"/>
              </a:defRPr>
            </a:pPr>
            <a:r>
              <a:rPr sz="1725" b="0">
                <a:solidFill>
                  <a:srgbClr val="B8C6BC"/>
                </a:solidFill>
                <a:latin typeface="Arial"/>
                <a:ea typeface="Arial"/>
                <a:cs typeface="Arial"/>
              </a:rPr>
              <a:t>Telemetry excludes keystrokes, URLs and window titles. File excerpts require approved folders.</a:t>
            </a:r>
          </a:p>
        </p:txBody>
      </p:sp>
    </p:spTree>
    <p:extLst>
      <p:ext uri="{BB962C8B-B14F-4D97-AF65-F5344CB8AC3E}">
        <p14:creationId xmlns:p14="http://schemas.microsoft.com/office/powerpoint/2010/main" val="44493031"/>
      </p:ext>
    </p:extLst>
  </p:cSld>
</p:sld>
</file>

<file path=ppt/slides/slide6.xml><?xml version="1.0" encoding="utf-8"?>
<p:sld xmlns:p="http://schemas.openxmlformats.org/presentationml/2006/main">
  <p:cSld>
    <p:bg>
      <p:bgPr>
        <a:solidFill xmlns:a="http://schemas.openxmlformats.org/drawingml/2006/main">
          <a:srgbClr val="13251E"/>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1EE738C0-1C0D-4368-97BE-EC87C02A6818}"/>
              </a:ext>
            </a:extLst>
          </p:cNvPr>
          <p:cNvSpPr>
            <a:spLocks xmlns:a="http://schemas.openxmlformats.org/drawingml/2006/main" noGrp="1"/>
          </p:cNvSpPr>
          <p:nvPr/>
        </p:nvSpPr>
        <p:spPr>
          <a:xfrm xmlns:a="http://schemas.openxmlformats.org/drawingml/2006/main">
            <a:off x="666750" y="495300"/>
            <a:ext cx="1076325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00" b="1">
                <a:solidFill>
                  <a:srgbClr val="F2F4E9"/>
                </a:solidFill>
                <a:latin typeface="Arial"/>
                <a:ea typeface="Arial"/>
                <a:cs typeface="Arial"/>
              </a:defRPr>
            </a:pPr>
            <a:r>
              <a:rPr sz="3600" b="1">
                <a:solidFill>
                  <a:srgbClr val="F2F4E9"/>
                </a:solidFill>
                <a:latin typeface="Arial"/>
                <a:ea typeface="Arial"/>
                <a:cs typeface="Arial"/>
              </a:rPr>
              <a:t>Windows ARM64 architecture</a:t>
            </a:r>
          </a:p>
        </p:txBody>
      </p:sp>
      <p:sp>
        <p:nvSpPr>
          <p:cNvPr id="2" name="">
            <a:extLst xmlns:a="http://schemas.openxmlformats.org/drawingml/2006/main">
              <a:ext uri="{FF2B5EF4-FFF2-40B4-BE49-F238E27FC236}">
                <a16:creationId xmlns:a16="http://schemas.microsoft.com/office/drawing/2014/main" id="{684C4CE8-1F39-4D05-B325-06E79DFF85D4}"/>
              </a:ext>
            </a:extLst>
          </p:cNvPr>
          <p:cNvSpPr>
            <a:spLocks xmlns:a="http://schemas.openxmlformats.org/drawingml/2006/main" noGrp="1"/>
          </p:cNvSpPr>
          <p:nvPr/>
        </p:nvSpPr>
        <p:spPr>
          <a:xfrm xmlns:a="http://schemas.openxmlformats.org/drawingml/2006/main">
            <a:off x="11144250" y="6257925"/>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B8C6BC"/>
                </a:solidFill>
                <a:latin typeface="Arial"/>
                <a:ea typeface="Arial"/>
                <a:cs typeface="Arial"/>
              </a:defRPr>
            </a:pPr>
            <a:r>
              <a:rPr sz="1425" b="0">
                <a:solidFill>
                  <a:srgbClr val="B8C6BC"/>
                </a:solidFill>
                <a:latin typeface="Arial"/>
                <a:ea typeface="Arial"/>
                <a:cs typeface="Arial"/>
              </a:rPr>
              <a:t>06</a:t>
            </a:r>
          </a:p>
        </p:txBody>
      </p:sp>
      <p:sp>
        <p:nvSpPr>
          <p:cNvPr id="3" name="">
            <a:extLst xmlns:a="http://schemas.openxmlformats.org/drawingml/2006/main">
              <a:ext uri="{FF2B5EF4-FFF2-40B4-BE49-F238E27FC236}">
                <a16:creationId xmlns:a16="http://schemas.microsoft.com/office/drawing/2014/main" id="{2C4D5095-AE80-468B-AEA6-63A9EA07E278}"/>
              </a:ext>
            </a:extLst>
          </p:cNvPr>
          <p:cNvSpPr>
            <a:spLocks xmlns:a="http://schemas.openxmlformats.org/drawingml/2006/main" noGrp="1"/>
          </p:cNvSpPr>
          <p:nvPr/>
        </p:nvSpPr>
        <p:spPr>
          <a:xfrm xmlns:a="http://schemas.openxmlformats.org/drawingml/2006/main">
            <a:off x="666750" y="1724025"/>
            <a:ext cx="3143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C0E7B7"/>
                </a:solidFill>
                <a:latin typeface="Arial"/>
                <a:ea typeface="Arial"/>
                <a:cs typeface="Arial"/>
              </a:defRPr>
            </a:pPr>
            <a:r>
              <a:rPr sz="2400" b="1">
                <a:solidFill>
                  <a:srgbClr val="C0E7B7"/>
                </a:solidFill>
                <a:latin typeface="Arial"/>
                <a:ea typeface="Arial"/>
                <a:cs typeface="Arial"/>
              </a:rPr>
              <a:t>Python 3.13</a:t>
            </a:r>
          </a:p>
        </p:txBody>
      </p:sp>
      <p:sp>
        <p:nvSpPr>
          <p:cNvPr id="4" name="">
            <a:extLst xmlns:a="http://schemas.openxmlformats.org/drawingml/2006/main">
              <a:ext uri="{FF2B5EF4-FFF2-40B4-BE49-F238E27FC236}">
                <a16:creationId xmlns:a16="http://schemas.microsoft.com/office/drawing/2014/main" id="{1B065094-BCA7-46C1-98C7-418DCA9301C6}"/>
              </a:ext>
            </a:extLst>
          </p:cNvPr>
          <p:cNvSpPr>
            <a:spLocks xmlns:a="http://schemas.openxmlformats.org/drawingml/2006/main" noGrp="1"/>
          </p:cNvSpPr>
          <p:nvPr/>
        </p:nvSpPr>
        <p:spPr>
          <a:xfrm xmlns:a="http://schemas.openxmlformats.org/drawingml/2006/main">
            <a:off x="4143375" y="1733550"/>
            <a:ext cx="7286625"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F2F4E9"/>
                </a:solidFill>
                <a:latin typeface="Arial"/>
                <a:ea typeface="Arial"/>
                <a:cs typeface="Arial"/>
              </a:defRPr>
            </a:pPr>
            <a:r>
              <a:rPr sz="2100" b="0">
                <a:solidFill>
                  <a:srgbClr val="F2F4E9"/>
                </a:solidFill>
                <a:latin typeface="Arial"/>
                <a:ea typeface="Arial"/>
                <a:cs typeface="Arial"/>
              </a:rPr>
              <a:t>Workflow rules and session-based prediction</a:t>
            </a:r>
          </a:p>
        </p:txBody>
      </p:sp>
      <p:sp>
        <p:nvSpPr>
          <p:cNvPr id="5" name="">
            <a:extLst xmlns:a="http://schemas.openxmlformats.org/drawingml/2006/main">
              <a:ext uri="{FF2B5EF4-FFF2-40B4-BE49-F238E27FC236}">
                <a16:creationId xmlns:a16="http://schemas.microsoft.com/office/drawing/2014/main" id="{655EEACC-8767-44BD-A51D-0DA02819C749}"/>
              </a:ext>
            </a:extLst>
          </p:cNvPr>
          <p:cNvSpPr>
            <a:spLocks xmlns:a="http://schemas.openxmlformats.org/drawingml/2006/main" noGrp="1"/>
          </p:cNvSpPr>
          <p:nvPr/>
        </p:nvSpPr>
        <p:spPr>
          <a:xfrm xmlns:a="http://schemas.openxmlformats.org/drawingml/2006/main">
            <a:off x="666750" y="2476500"/>
            <a:ext cx="3143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C0E7B7"/>
                </a:solidFill>
                <a:latin typeface="Arial"/>
                <a:ea typeface="Arial"/>
                <a:cs typeface="Arial"/>
              </a:defRPr>
            </a:pPr>
            <a:r>
              <a:rPr sz="2400" b="1">
                <a:solidFill>
                  <a:srgbClr val="C0E7B7"/>
                </a:solidFill>
                <a:latin typeface="Arial"/>
                <a:ea typeface="Arial"/>
                <a:cs typeface="Arial"/>
              </a:rPr>
              <a:t>Win32 via ctypes</a:t>
            </a:r>
          </a:p>
        </p:txBody>
      </p:sp>
      <p:sp>
        <p:nvSpPr>
          <p:cNvPr id="6" name="">
            <a:extLst xmlns:a="http://schemas.openxmlformats.org/drawingml/2006/main">
              <a:ext uri="{FF2B5EF4-FFF2-40B4-BE49-F238E27FC236}">
                <a16:creationId xmlns:a16="http://schemas.microsoft.com/office/drawing/2014/main" id="{5C42B69C-056C-44C4-A97C-C242C94961E5}"/>
              </a:ext>
            </a:extLst>
          </p:cNvPr>
          <p:cNvSpPr>
            <a:spLocks xmlns:a="http://schemas.openxmlformats.org/drawingml/2006/main" noGrp="1"/>
          </p:cNvSpPr>
          <p:nvPr/>
        </p:nvSpPr>
        <p:spPr>
          <a:xfrm xmlns:a="http://schemas.openxmlformats.org/drawingml/2006/main">
            <a:off x="4143375" y="2486025"/>
            <a:ext cx="7286625"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F2F4E9"/>
                </a:solidFill>
                <a:latin typeface="Arial"/>
                <a:ea typeface="Arial"/>
                <a:cs typeface="Arial"/>
              </a:defRPr>
            </a:pPr>
            <a:r>
              <a:rPr sz="2100" b="0">
                <a:solidFill>
                  <a:srgbClr val="F2F4E9"/>
                </a:solidFill>
                <a:latin typeface="Arial"/>
                <a:ea typeface="Arial"/>
                <a:cs typeface="Arial"/>
              </a:rPr>
              <a:t>CPU/RAM, processes and foreground activity</a:t>
            </a:r>
          </a:p>
        </p:txBody>
      </p:sp>
      <p:sp>
        <p:nvSpPr>
          <p:cNvPr id="7" name="">
            <a:extLst xmlns:a="http://schemas.openxmlformats.org/drawingml/2006/main">
              <a:ext uri="{FF2B5EF4-FFF2-40B4-BE49-F238E27FC236}">
                <a16:creationId xmlns:a16="http://schemas.microsoft.com/office/drawing/2014/main" id="{7EDB1183-FA8C-4E5F-8737-2B2D9646EE88}"/>
              </a:ext>
            </a:extLst>
          </p:cNvPr>
          <p:cNvSpPr>
            <a:spLocks xmlns:a="http://schemas.openxmlformats.org/drawingml/2006/main" noGrp="1"/>
          </p:cNvSpPr>
          <p:nvPr/>
        </p:nvSpPr>
        <p:spPr>
          <a:xfrm xmlns:a="http://schemas.openxmlformats.org/drawingml/2006/main">
            <a:off x="666750" y="3228975"/>
            <a:ext cx="3143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C0E7B7"/>
                </a:solidFill>
                <a:latin typeface="Arial"/>
                <a:ea typeface="Arial"/>
                <a:cs typeface="Arial"/>
              </a:defRPr>
            </a:pPr>
            <a:r>
              <a:rPr sz="2400" b="1">
                <a:solidFill>
                  <a:srgbClr val="C0E7B7"/>
                </a:solidFill>
                <a:latin typeface="Arial"/>
                <a:ea typeface="Arial"/>
                <a:cs typeface="Arial"/>
              </a:rPr>
              <a:t>SQLite</a:t>
            </a:r>
          </a:p>
        </p:txBody>
      </p:sp>
      <p:sp>
        <p:nvSpPr>
          <p:cNvPr id="8" name="">
            <a:extLst xmlns:a="http://schemas.openxmlformats.org/drawingml/2006/main">
              <a:ext uri="{FF2B5EF4-FFF2-40B4-BE49-F238E27FC236}">
                <a16:creationId xmlns:a16="http://schemas.microsoft.com/office/drawing/2014/main" id="{37FA92D5-F027-46D7-9DB5-22D27F568E92}"/>
              </a:ext>
            </a:extLst>
          </p:cNvPr>
          <p:cNvSpPr>
            <a:spLocks xmlns:a="http://schemas.openxmlformats.org/drawingml/2006/main" noGrp="1"/>
          </p:cNvSpPr>
          <p:nvPr/>
        </p:nvSpPr>
        <p:spPr>
          <a:xfrm xmlns:a="http://schemas.openxmlformats.org/drawingml/2006/main">
            <a:off x="4143375" y="3238500"/>
            <a:ext cx="7286625"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F2F4E9"/>
                </a:solidFill>
                <a:latin typeface="Arial"/>
                <a:ea typeface="Arial"/>
                <a:cs typeface="Arial"/>
              </a:defRPr>
            </a:pPr>
            <a:r>
              <a:rPr sz="2100" b="0">
                <a:solidFill>
                  <a:srgbClr val="F2F4E9"/>
                </a:solidFill>
                <a:latin typeface="Arial"/>
                <a:ea typeface="Arial"/>
                <a:cs typeface="Arial"/>
              </a:rPr>
              <a:t>Local telemetry, file catalog and action journals</a:t>
            </a:r>
          </a:p>
        </p:txBody>
      </p:sp>
      <p:sp>
        <p:nvSpPr>
          <p:cNvPr id="9" name="">
            <a:extLst xmlns:a="http://schemas.openxmlformats.org/drawingml/2006/main">
              <a:ext uri="{FF2B5EF4-FFF2-40B4-BE49-F238E27FC236}">
                <a16:creationId xmlns:a16="http://schemas.microsoft.com/office/drawing/2014/main" id="{4FA88B46-7C54-4C40-BD46-7B5A27C6C33A}"/>
              </a:ext>
            </a:extLst>
          </p:cNvPr>
          <p:cNvSpPr>
            <a:spLocks xmlns:a="http://schemas.openxmlformats.org/drawingml/2006/main" noGrp="1"/>
          </p:cNvSpPr>
          <p:nvPr/>
        </p:nvSpPr>
        <p:spPr>
          <a:xfrm xmlns:a="http://schemas.openxmlformats.org/drawingml/2006/main">
            <a:off x="666750" y="3981450"/>
            <a:ext cx="3143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C0E7B7"/>
                </a:solidFill>
                <a:latin typeface="Arial"/>
                <a:ea typeface="Arial"/>
                <a:cs typeface="Arial"/>
              </a:defRPr>
            </a:pPr>
            <a:r>
              <a:rPr sz="2400" b="1">
                <a:solidFill>
                  <a:srgbClr val="C0E7B7"/>
                </a:solidFill>
                <a:latin typeface="Arial"/>
                <a:ea typeface="Arial"/>
                <a:cs typeface="Arial"/>
              </a:rPr>
              <a:t>HTML / CSS / JS</a:t>
            </a:r>
          </a:p>
        </p:txBody>
      </p:sp>
      <p:sp>
        <p:nvSpPr>
          <p:cNvPr id="10" name="">
            <a:extLst xmlns:a="http://schemas.openxmlformats.org/drawingml/2006/main">
              <a:ext uri="{FF2B5EF4-FFF2-40B4-BE49-F238E27FC236}">
                <a16:creationId xmlns:a16="http://schemas.microsoft.com/office/drawing/2014/main" id="{6FF363C3-4AB3-49D2-B6AD-50E4D74FB355}"/>
              </a:ext>
            </a:extLst>
          </p:cNvPr>
          <p:cNvSpPr>
            <a:spLocks xmlns:a="http://schemas.openxmlformats.org/drawingml/2006/main" noGrp="1"/>
          </p:cNvSpPr>
          <p:nvPr/>
        </p:nvSpPr>
        <p:spPr>
          <a:xfrm xmlns:a="http://schemas.openxmlformats.org/drawingml/2006/main">
            <a:off x="4143375" y="3990975"/>
            <a:ext cx="7286625"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F2F4E9"/>
                </a:solidFill>
                <a:latin typeface="Arial"/>
                <a:ea typeface="Arial"/>
                <a:cs typeface="Arial"/>
              </a:defRPr>
            </a:pPr>
            <a:r>
              <a:rPr sz="2100" b="0">
                <a:solidFill>
                  <a:srgbClr val="F2F4E9"/>
                </a:solidFill>
                <a:latin typeface="Arial"/>
                <a:ea typeface="Arial"/>
                <a:cs typeface="Arial"/>
              </a:rPr>
              <a:t>Browser dashboard at 127.0.0.1</a:t>
            </a:r>
          </a:p>
        </p:txBody>
      </p:sp>
      <p:sp>
        <p:nvSpPr>
          <p:cNvPr id="11" name="">
            <a:extLst xmlns:a="http://schemas.openxmlformats.org/drawingml/2006/main">
              <a:ext uri="{FF2B5EF4-FFF2-40B4-BE49-F238E27FC236}">
                <a16:creationId xmlns:a16="http://schemas.microsoft.com/office/drawing/2014/main" id="{634851A3-E827-4282-97FB-307C34139001}"/>
              </a:ext>
            </a:extLst>
          </p:cNvPr>
          <p:cNvSpPr>
            <a:spLocks xmlns:a="http://schemas.openxmlformats.org/drawingml/2006/main" noGrp="1"/>
          </p:cNvSpPr>
          <p:nvPr/>
        </p:nvSpPr>
        <p:spPr>
          <a:xfrm xmlns:a="http://schemas.openxmlformats.org/drawingml/2006/main">
            <a:off x="666750" y="5019675"/>
            <a:ext cx="106680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F2F4E9"/>
                </a:solidFill>
                <a:latin typeface="Arial"/>
                <a:ea typeface="Arial"/>
                <a:cs typeface="Arial"/>
              </a:defRPr>
            </a:pPr>
            <a:r>
              <a:rPr sz="2100" b="1">
                <a:solidFill>
                  <a:srgbClr val="F2F4E9"/>
                </a:solidFill>
                <a:latin typeface="Arial"/>
                <a:ea typeface="Arial"/>
                <a:cs typeface="Arial"/>
              </a:rPr>
              <a:t>Test device: HP Snapdragon X (X126100), 16 GB RAM, ARM64</a:t>
            </a:r>
          </a:p>
        </p:txBody>
      </p:sp>
      <p:sp>
        <p:nvSpPr>
          <p:cNvPr id="12" name="">
            <a:extLst xmlns:a="http://schemas.openxmlformats.org/drawingml/2006/main">
              <a:ext uri="{FF2B5EF4-FFF2-40B4-BE49-F238E27FC236}">
                <a16:creationId xmlns:a16="http://schemas.microsoft.com/office/drawing/2014/main" id="{E41C1E0C-928E-44DA-AEDE-32AFA43479B8}"/>
              </a:ext>
            </a:extLst>
          </p:cNvPr>
          <p:cNvSpPr>
            <a:spLocks xmlns:a="http://schemas.openxmlformats.org/drawingml/2006/main" noGrp="1"/>
          </p:cNvSpPr>
          <p:nvPr/>
        </p:nvSpPr>
        <p:spPr>
          <a:xfrm xmlns:a="http://schemas.openxmlformats.org/drawingml/2006/main">
            <a:off x="666750" y="5638800"/>
            <a:ext cx="106680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B8C6BC"/>
                </a:solidFill>
                <a:latin typeface="Arial"/>
                <a:ea typeface="Arial"/>
                <a:cs typeface="Arial"/>
              </a:defRPr>
            </a:pPr>
            <a:r>
              <a:rPr sz="1800" b="0">
                <a:solidFill>
                  <a:srgbClr val="B8C6BC"/>
                </a:solidFill>
                <a:latin typeface="Arial"/>
                <a:ea typeface="Arial"/>
                <a:cs typeface="Arial"/>
              </a:rPr>
              <a:t>All 61 tests passed on the Snapdragon ARM64 laptop. The NPU is not used.</a:t>
            </a:r>
          </a:p>
        </p:txBody>
      </p:sp>
    </p:spTree>
    <p:extLst>
      <p:ext uri="{BB962C8B-B14F-4D97-AF65-F5344CB8AC3E}">
        <p14:creationId xmlns:p14="http://schemas.microsoft.com/office/powerpoint/2010/main" val="1449125142"/>
      </p:ext>
    </p:extLst>
  </p:cSld>
</p:sld>
</file>

<file path=ppt/slides/slide7.xml><?xml version="1.0" encoding="utf-8"?>
<p:sld xmlns:p="http://schemas.openxmlformats.org/presentationml/2006/main">
  <p:cSld>
    <p:bg>
      <p:bgPr>
        <a:solidFill xmlns:a="http://schemas.openxmlformats.org/drawingml/2006/main">
          <a:srgbClr val="13251E"/>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BFEC2848-D327-48C4-97A2-42832691896C}"/>
              </a:ext>
            </a:extLst>
          </p:cNvPr>
          <p:cNvSpPr>
            <a:spLocks xmlns:a="http://schemas.openxmlformats.org/drawingml/2006/main" noGrp="1"/>
          </p:cNvSpPr>
          <p:nvPr/>
        </p:nvSpPr>
        <p:spPr>
          <a:xfrm xmlns:a="http://schemas.openxmlformats.org/drawingml/2006/main">
            <a:off x="666750" y="495300"/>
            <a:ext cx="1076325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00" b="1">
                <a:solidFill>
                  <a:srgbClr val="F2F4E9"/>
                </a:solidFill>
                <a:latin typeface="Arial"/>
                <a:ea typeface="Arial"/>
                <a:cs typeface="Arial"/>
              </a:defRPr>
            </a:pPr>
            <a:r>
              <a:rPr sz="3600" b="1">
                <a:solidFill>
                  <a:srgbClr val="F2F4E9"/>
                </a:solidFill>
                <a:latin typeface="Arial"/>
                <a:ea typeface="Arial"/>
                <a:cs typeface="Arial"/>
              </a:rPr>
              <a:t>Validation and next steps</a:t>
            </a:r>
          </a:p>
        </p:txBody>
      </p:sp>
      <p:sp>
        <p:nvSpPr>
          <p:cNvPr id="2" name="">
            <a:extLst xmlns:a="http://schemas.openxmlformats.org/drawingml/2006/main">
              <a:ext uri="{FF2B5EF4-FFF2-40B4-BE49-F238E27FC236}">
                <a16:creationId xmlns:a16="http://schemas.microsoft.com/office/drawing/2014/main" id="{6B632C1D-9971-461D-817F-16003B5E1359}"/>
              </a:ext>
            </a:extLst>
          </p:cNvPr>
          <p:cNvSpPr>
            <a:spLocks xmlns:a="http://schemas.openxmlformats.org/drawingml/2006/main" noGrp="1"/>
          </p:cNvSpPr>
          <p:nvPr/>
        </p:nvSpPr>
        <p:spPr>
          <a:xfrm xmlns:a="http://schemas.openxmlformats.org/drawingml/2006/main">
            <a:off x="11144250" y="6257925"/>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B8C6BC"/>
                </a:solidFill>
                <a:latin typeface="Arial"/>
                <a:ea typeface="Arial"/>
                <a:cs typeface="Arial"/>
              </a:defRPr>
            </a:pPr>
            <a:r>
              <a:rPr sz="1425" b="0">
                <a:solidFill>
                  <a:srgbClr val="B8C6BC"/>
                </a:solidFill>
                <a:latin typeface="Arial"/>
                <a:ea typeface="Arial"/>
                <a:cs typeface="Arial"/>
              </a:rPr>
              <a:t>07</a:t>
            </a:r>
          </a:p>
        </p:txBody>
      </p:sp>
      <p:sp>
        <p:nvSpPr>
          <p:cNvPr id="3" name="">
            <a:extLst xmlns:a="http://schemas.openxmlformats.org/drawingml/2006/main">
              <a:ext uri="{FF2B5EF4-FFF2-40B4-BE49-F238E27FC236}">
                <a16:creationId xmlns:a16="http://schemas.microsoft.com/office/drawing/2014/main" id="{92AE6239-0161-4150-8DA4-26AC11C2DB9A}"/>
              </a:ext>
            </a:extLst>
          </p:cNvPr>
          <p:cNvSpPr>
            <a:spLocks xmlns:a="http://schemas.openxmlformats.org/drawingml/2006/main" noGrp="1"/>
          </p:cNvSpPr>
          <p:nvPr/>
        </p:nvSpPr>
        <p:spPr>
          <a:xfrm xmlns:a="http://schemas.openxmlformats.org/drawingml/2006/main">
            <a:off x="666750" y="1590675"/>
            <a:ext cx="31432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7050" b="1">
                <a:solidFill>
                  <a:srgbClr val="C0E7B7"/>
                </a:solidFill>
                <a:latin typeface="Arial"/>
                <a:ea typeface="Arial"/>
                <a:cs typeface="Arial"/>
              </a:defRPr>
            </a:pPr>
            <a:r>
              <a:rPr sz="7050" b="1">
                <a:solidFill>
                  <a:srgbClr val="C0E7B7"/>
                </a:solidFill>
                <a:latin typeface="Arial"/>
                <a:ea typeface="Arial"/>
                <a:cs typeface="Arial"/>
              </a:rPr>
              <a:t>61</a:t>
            </a:r>
          </a:p>
        </p:txBody>
      </p:sp>
      <p:sp>
        <p:nvSpPr>
          <p:cNvPr id="4" name="">
            <a:extLst xmlns:a="http://schemas.openxmlformats.org/drawingml/2006/main">
              <a:ext uri="{FF2B5EF4-FFF2-40B4-BE49-F238E27FC236}">
                <a16:creationId xmlns:a16="http://schemas.microsoft.com/office/drawing/2014/main" id="{596E3B75-AF39-4BE3-893A-FDA243C345BC}"/>
              </a:ext>
            </a:extLst>
          </p:cNvPr>
          <p:cNvSpPr>
            <a:spLocks xmlns:a="http://schemas.openxmlformats.org/drawingml/2006/main" noGrp="1"/>
          </p:cNvSpPr>
          <p:nvPr/>
        </p:nvSpPr>
        <p:spPr>
          <a:xfrm xmlns:a="http://schemas.openxmlformats.org/drawingml/2006/main">
            <a:off x="666750" y="2790825"/>
            <a:ext cx="5000625"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F2F4E9"/>
                </a:solidFill>
                <a:latin typeface="Arial"/>
                <a:ea typeface="Arial"/>
                <a:cs typeface="Arial"/>
              </a:defRPr>
            </a:pPr>
            <a:r>
              <a:rPr sz="2100" b="0">
                <a:solidFill>
                  <a:srgbClr val="F2F4E9"/>
                </a:solidFill>
                <a:latin typeface="Arial"/>
                <a:ea typeface="Arial"/>
                <a:cs typeface="Arial"/>
              </a:rPr>
              <a:t>tests passed on the Snapdragon ARM64 laptop</a:t>
            </a:r>
          </a:p>
        </p:txBody>
      </p:sp>
      <p:sp>
        <p:nvSpPr>
          <p:cNvPr id="5" name="">
            <a:extLst xmlns:a="http://schemas.openxmlformats.org/drawingml/2006/main">
              <a:ext uri="{FF2B5EF4-FFF2-40B4-BE49-F238E27FC236}">
                <a16:creationId xmlns:a16="http://schemas.microsoft.com/office/drawing/2014/main" id="{457CEE5E-2F6F-47C4-B01C-1D7D06FA06B6}"/>
              </a:ext>
            </a:extLst>
          </p:cNvPr>
          <p:cNvSpPr>
            <a:spLocks xmlns:a="http://schemas.openxmlformats.org/drawingml/2006/main" noGrp="1"/>
          </p:cNvSpPr>
          <p:nvPr/>
        </p:nvSpPr>
        <p:spPr>
          <a:xfrm xmlns:a="http://schemas.openxmlformats.org/drawingml/2006/main">
            <a:off x="6477000" y="1590675"/>
            <a:ext cx="31432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7050" b="1">
                <a:solidFill>
                  <a:srgbClr val="C0E7B7"/>
                </a:solidFill>
                <a:latin typeface="Arial"/>
                <a:ea typeface="Arial"/>
                <a:cs typeface="Arial"/>
              </a:defRPr>
            </a:pPr>
            <a:r>
              <a:rPr sz="7050" b="1">
                <a:solidFill>
                  <a:srgbClr val="C0E7B7"/>
                </a:solidFill>
                <a:latin typeface="Arial"/>
                <a:ea typeface="Arial"/>
                <a:cs typeface="Arial"/>
              </a:rPr>
              <a:t>0</a:t>
            </a:r>
          </a:p>
        </p:txBody>
      </p:sp>
      <p:sp>
        <p:nvSpPr>
          <p:cNvPr id="6" name="">
            <a:extLst xmlns:a="http://schemas.openxmlformats.org/drawingml/2006/main">
              <a:ext uri="{FF2B5EF4-FFF2-40B4-BE49-F238E27FC236}">
                <a16:creationId xmlns:a16="http://schemas.microsoft.com/office/drawing/2014/main" id="{252A2334-3333-42E3-9BEB-DD43713B5FE3}"/>
              </a:ext>
            </a:extLst>
          </p:cNvPr>
          <p:cNvSpPr>
            <a:spLocks xmlns:a="http://schemas.openxmlformats.org/drawingml/2006/main" noGrp="1"/>
          </p:cNvSpPr>
          <p:nvPr/>
        </p:nvSpPr>
        <p:spPr>
          <a:xfrm xmlns:a="http://schemas.openxmlformats.org/drawingml/2006/main">
            <a:off x="6477000" y="2790825"/>
            <a:ext cx="48577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F2F4E9"/>
                </a:solidFill>
                <a:latin typeface="Arial"/>
                <a:ea typeface="Arial"/>
                <a:cs typeface="Arial"/>
              </a:defRPr>
            </a:pPr>
            <a:r>
              <a:rPr sz="2100" b="0">
                <a:solidFill>
                  <a:srgbClr val="F2F4E9"/>
                </a:solidFill>
                <a:latin typeface="Arial"/>
                <a:ea typeface="Arial"/>
                <a:cs typeface="Arial"/>
              </a:rPr>
              <a:t>third-party runtime packages</a:t>
            </a:r>
          </a:p>
        </p:txBody>
      </p:sp>
      <p:sp>
        <p:nvSpPr>
          <p:cNvPr id="7" name="">
            <a:extLst xmlns:a="http://schemas.openxmlformats.org/drawingml/2006/main">
              <a:ext uri="{FF2B5EF4-FFF2-40B4-BE49-F238E27FC236}">
                <a16:creationId xmlns:a16="http://schemas.microsoft.com/office/drawing/2014/main" id="{4FEA29E5-9BEC-4D73-8C2D-9AA103A40622}"/>
              </a:ext>
            </a:extLst>
          </p:cNvPr>
          <p:cNvSpPr>
            <a:spLocks xmlns:a="http://schemas.openxmlformats.org/drawingml/2006/main" noGrp="1"/>
          </p:cNvSpPr>
          <p:nvPr/>
        </p:nvSpPr>
        <p:spPr>
          <a:xfrm xmlns:a="http://schemas.openxmlformats.org/drawingml/2006/main">
            <a:off x="666750" y="4010025"/>
            <a:ext cx="1057275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F2F4E9"/>
                </a:solidFill>
                <a:latin typeface="Arial"/>
                <a:ea typeface="Arial"/>
                <a:cs typeface="Arial"/>
              </a:defRPr>
            </a:pPr>
            <a:r>
              <a:rPr sz="2400" b="1">
                <a:solidFill>
                  <a:srgbClr val="F2F4E9"/>
                </a:solidFill>
                <a:latin typeface="Arial"/>
                <a:ea typeface="Arial"/>
                <a:cs typeface="Arial"/>
              </a:rPr>
              <a:t>Next: device diagnostics, organizer UI and controlled performance trials.</a:t>
            </a:r>
          </a:p>
        </p:txBody>
      </p:sp>
      <p:sp>
        <p:nvSpPr>
          <p:cNvPr id="8" name="">
            <a:extLst xmlns:a="http://schemas.openxmlformats.org/drawingml/2006/main">
              <a:ext uri="{FF2B5EF4-FFF2-40B4-BE49-F238E27FC236}">
                <a16:creationId xmlns:a16="http://schemas.microsoft.com/office/drawing/2014/main" id="{8C3B69F4-0E0E-4653-82DD-D91418D64C43}"/>
              </a:ext>
            </a:extLst>
          </p:cNvPr>
          <p:cNvSpPr>
            <a:spLocks xmlns:a="http://schemas.openxmlformats.org/drawingml/2006/main" noGrp="1"/>
          </p:cNvSpPr>
          <p:nvPr/>
        </p:nvSpPr>
        <p:spPr>
          <a:xfrm xmlns:a="http://schemas.openxmlformats.org/drawingml/2006/main">
            <a:off x="666750" y="5276850"/>
            <a:ext cx="10620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C0E7B7"/>
                </a:solidFill>
                <a:latin typeface="Arial"/>
                <a:ea typeface="Arial"/>
                <a:cs typeface="Arial"/>
              </a:defRPr>
            </a:pPr>
            <a:r>
              <a:rPr sz="2025" b="0">
                <a:solidFill>
                  <a:srgbClr val="C0E7B7"/>
                </a:solidFill>
                <a:latin typeface="Arial"/>
                <a:ea typeface="Arial"/>
                <a:cs typeface="Arial"/>
              </a:rPr>
              <a:t>Demo: run_demo.cmd     Live mode: run.cmd</a:t>
            </a:r>
          </a:p>
        </p:txBody>
      </p:sp>
      <p:sp>
        <p:nvSpPr>
          <p:cNvPr id="9" name="">
            <a:extLst xmlns:a="http://schemas.openxmlformats.org/drawingml/2006/main">
              <a:ext uri="{FF2B5EF4-FFF2-40B4-BE49-F238E27FC236}">
                <a16:creationId xmlns:a16="http://schemas.microsoft.com/office/drawing/2014/main" id="{0B8E9327-9375-419A-8338-8A6FF390BCBA}"/>
              </a:ext>
            </a:extLst>
          </p:cNvPr>
          <p:cNvSpPr>
            <a:spLocks xmlns:a="http://schemas.openxmlformats.org/drawingml/2006/main" noGrp="1"/>
          </p:cNvSpPr>
          <p:nvPr/>
        </p:nvSpPr>
        <p:spPr>
          <a:xfrm xmlns:a="http://schemas.openxmlformats.org/drawingml/2006/main">
            <a:off x="666750" y="5848350"/>
            <a:ext cx="10763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B8C6BC"/>
                </a:solidFill>
                <a:latin typeface="Arial"/>
                <a:ea typeface="Arial"/>
                <a:cs typeface="Arial"/>
              </a:defRPr>
            </a:pPr>
            <a:r>
              <a:rPr sz="1650" b="0">
                <a:solidFill>
                  <a:srgbClr val="B8C6BC"/>
                </a:solidFill>
                <a:latin typeface="Arial"/>
                <a:ea typeface="Arial"/>
                <a:cs typeface="Arial"/>
              </a:rPr>
              <a:t>https://github.com/Team-SankatMochan/KSHETRAJNA-OS</a:t>
            </a:r>
          </a:p>
        </p:txBody>
      </p:sp>
    </p:spTree>
    <p:extLst>
      <p:ext uri="{BB962C8B-B14F-4D97-AF65-F5344CB8AC3E}">
        <p14:creationId xmlns:p14="http://schemas.microsoft.com/office/powerpoint/2010/main" val="1446880516"/>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2026-09-30T18:12:09.6630000Z</dcterms:created>
  <dcterms:modified xsi:type="dcterms:W3CDTF">2026-09-30T18:12:09.6630000Z</dcterms:modified>
</coreProperties>
</file>